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Poppins Bold" charset="1" panose="00000800000000000000"/>
      <p:regular r:id="rId46"/>
    </p:embeddedFont>
    <p:embeddedFont>
      <p:font typeface="Poppins" charset="1" panose="00000500000000000000"/>
      <p:regular r:id="rId47"/>
    </p:embeddedFont>
    <p:embeddedFont>
      <p:font typeface="Arimo Bold" charset="1" panose="020B0704020202020204"/>
      <p:regular r:id="rId48"/>
    </p:embeddedFont>
    <p:embeddedFont>
      <p:font typeface="DejaVu Serif Bold" charset="1" panose="02060803050605020204"/>
      <p:regular r:id="rId49"/>
    </p:embeddedFont>
    <p:embeddedFont>
      <p:font typeface="DejaVu Serif" charset="1" panose="02060603050605020204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20585" y="3039074"/>
            <a:ext cx="1953286" cy="1953286"/>
          </a:xfrm>
          <a:custGeom>
            <a:avLst/>
            <a:gdLst/>
            <a:ahLst/>
            <a:cxnLst/>
            <a:rect r="r" b="b" t="t" l="l"/>
            <a:pathLst>
              <a:path h="1953286" w="1953286">
                <a:moveTo>
                  <a:pt x="0" y="0"/>
                </a:moveTo>
                <a:lnTo>
                  <a:pt x="1953286" y="0"/>
                </a:lnTo>
                <a:lnTo>
                  <a:pt x="1953286" y="1953286"/>
                </a:lnTo>
                <a:lnTo>
                  <a:pt x="0" y="195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-3516505"/>
            <a:ext cx="11487912" cy="11777322"/>
            <a:chOff x="0" y="0"/>
            <a:chExt cx="812800" cy="8332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33276"/>
            </a:xfrm>
            <a:custGeom>
              <a:avLst/>
              <a:gdLst/>
              <a:ahLst/>
              <a:cxnLst/>
              <a:rect r="r" b="b" t="t" l="l"/>
              <a:pathLst>
                <a:path h="833276" w="812800">
                  <a:moveTo>
                    <a:pt x="406400" y="0"/>
                  </a:moveTo>
                  <a:cubicBezTo>
                    <a:pt x="181951" y="0"/>
                    <a:pt x="0" y="186535"/>
                    <a:pt x="0" y="416638"/>
                  </a:cubicBezTo>
                  <a:cubicBezTo>
                    <a:pt x="0" y="646741"/>
                    <a:pt x="181951" y="833276"/>
                    <a:pt x="406400" y="833276"/>
                  </a:cubicBezTo>
                  <a:cubicBezTo>
                    <a:pt x="630849" y="833276"/>
                    <a:pt x="812800" y="646741"/>
                    <a:pt x="812800" y="416638"/>
                  </a:cubicBezTo>
                  <a:cubicBezTo>
                    <a:pt x="812800" y="18653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0020"/>
              <a:ext cx="660400" cy="715137"/>
            </a:xfrm>
            <a:prstGeom prst="rect">
              <a:avLst/>
            </a:prstGeom>
          </p:spPr>
          <p:txBody>
            <a:bodyPr anchor="ctr" rtlCol="false" tIns="358962" lIns="358962" bIns="358962" rIns="35896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03227" y="1853008"/>
            <a:ext cx="7252893" cy="725289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510456" y="8731479"/>
            <a:ext cx="748844" cy="748844"/>
          </a:xfrm>
          <a:custGeom>
            <a:avLst/>
            <a:gdLst/>
            <a:ahLst/>
            <a:cxnLst/>
            <a:rect r="r" b="b" t="t" l="l"/>
            <a:pathLst>
              <a:path h="748844" w="748844">
                <a:moveTo>
                  <a:pt x="0" y="0"/>
                </a:moveTo>
                <a:lnTo>
                  <a:pt x="748844" y="0"/>
                </a:lnTo>
                <a:lnTo>
                  <a:pt x="748844" y="748843"/>
                </a:lnTo>
                <a:lnTo>
                  <a:pt x="0" y="748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9718" y="656364"/>
            <a:ext cx="685750" cy="685750"/>
          </a:xfrm>
          <a:custGeom>
            <a:avLst/>
            <a:gdLst/>
            <a:ahLst/>
            <a:cxnLst/>
            <a:rect r="r" b="b" t="t" l="l"/>
            <a:pathLst>
              <a:path h="685750" w="685750">
                <a:moveTo>
                  <a:pt x="0" y="0"/>
                </a:moveTo>
                <a:lnTo>
                  <a:pt x="685750" y="0"/>
                </a:lnTo>
                <a:lnTo>
                  <a:pt x="685750" y="685750"/>
                </a:lnTo>
                <a:lnTo>
                  <a:pt x="0" y="6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33675" y="7048796"/>
            <a:ext cx="2563891" cy="1212021"/>
          </a:xfrm>
          <a:custGeom>
            <a:avLst/>
            <a:gdLst/>
            <a:ahLst/>
            <a:cxnLst/>
            <a:rect r="r" b="b" t="t" l="l"/>
            <a:pathLst>
              <a:path h="1212021" w="2563891">
                <a:moveTo>
                  <a:pt x="0" y="0"/>
                </a:moveTo>
                <a:lnTo>
                  <a:pt x="2563891" y="0"/>
                </a:lnTo>
                <a:lnTo>
                  <a:pt x="2563891" y="1212021"/>
                </a:lnTo>
                <a:lnTo>
                  <a:pt x="0" y="12120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5148" y="2104030"/>
            <a:ext cx="9748723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Optic Disc and Fovea Detection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9101" y="5192385"/>
            <a:ext cx="14490572" cy="84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84AAD8"/>
                </a:solidFill>
                <a:latin typeface="Poppins Bold"/>
                <a:ea typeface="Poppins Bold"/>
                <a:cs typeface="Poppins Bold"/>
                <a:sym typeface="Poppins Bold"/>
              </a:rPr>
              <a:t>using Classical Image 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5714" y="7284284"/>
            <a:ext cx="2471527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Delfin Aksu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854916"/>
            <a:chOff x="0" y="0"/>
            <a:chExt cx="4816593" cy="751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1912"/>
            </a:xfrm>
            <a:custGeom>
              <a:avLst/>
              <a:gdLst/>
              <a:ahLst/>
              <a:cxnLst/>
              <a:rect r="r" b="b" t="t" l="l"/>
              <a:pathLst>
                <a:path h="7519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1912"/>
                  </a:lnTo>
                  <a:lnTo>
                    <a:pt x="0" y="751912"/>
                  </a:lnTo>
                  <a:close/>
                </a:path>
              </a:pathLst>
            </a:custGeom>
            <a:solidFill>
              <a:srgbClr val="E8F2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16593" cy="83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46863" y="4420004"/>
            <a:ext cx="7718031" cy="77180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334388" lIns="334388" bIns="334388" rIns="334388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031893" y="4420004"/>
            <a:ext cx="8227407" cy="5721287"/>
          </a:xfrm>
          <a:custGeom>
            <a:avLst/>
            <a:gdLst/>
            <a:ahLst/>
            <a:cxnLst/>
            <a:rect r="r" b="b" t="t" l="l"/>
            <a:pathLst>
              <a:path h="5721287" w="8227407">
                <a:moveTo>
                  <a:pt x="0" y="0"/>
                </a:moveTo>
                <a:lnTo>
                  <a:pt x="8227407" y="0"/>
                </a:lnTo>
                <a:lnTo>
                  <a:pt x="8227407" y="5721287"/>
                </a:lnTo>
                <a:lnTo>
                  <a:pt x="0" y="5721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50836" y="520361"/>
            <a:ext cx="15386328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86BC2"/>
                </a:solidFill>
                <a:latin typeface="Arimo Bold"/>
                <a:ea typeface="Arimo Bold"/>
                <a:cs typeface="Arimo Bold"/>
                <a:sym typeface="Arimo Bold"/>
              </a:rPr>
              <a:t>Why Optic Disc and Fovea?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8664" y="3237047"/>
            <a:ext cx="13399961" cy="233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741" indent="-474871" lvl="1">
              <a:lnSpc>
                <a:spcPts val="6158"/>
              </a:lnSpc>
              <a:buFont typeface="Arial"/>
              <a:buChar char="•"/>
            </a:pPr>
            <a:r>
              <a:rPr lang="en-US" b="true" sz="4398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Optic D</a:t>
            </a:r>
            <a:r>
              <a:rPr lang="en-US" b="true" sz="4398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isc (OD) → entry point of vessels</a:t>
            </a:r>
          </a:p>
          <a:p>
            <a:pPr algn="l" marL="949741" indent="-474871" lvl="1">
              <a:lnSpc>
                <a:spcPts val="6158"/>
              </a:lnSpc>
              <a:buFont typeface="Arial"/>
              <a:buChar char="•"/>
            </a:pPr>
            <a:r>
              <a:rPr lang="en-US" b="true" sz="4398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Fovea → center of vision</a:t>
            </a:r>
          </a:p>
          <a:p>
            <a:pPr algn="l">
              <a:lnSpc>
                <a:spcPts val="615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39435"/>
            <a:ext cx="8324185" cy="361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Crit</a:t>
            </a:r>
            <a:r>
              <a:rPr lang="en-US" sz="3399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ical for: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Glaucoma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Diabetic Retinopathy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Accurate localization is essential</a:t>
            </a:r>
          </a:p>
          <a:p>
            <a:pPr algn="ctr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905375"/>
            <a:ext cx="9525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33611" y="819150"/>
            <a:ext cx="8115151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286BC2"/>
                </a:solidFill>
                <a:latin typeface="Arimo Bold"/>
                <a:ea typeface="Arimo Bold"/>
                <a:cs typeface="Arimo Bold"/>
                <a:sym typeface="Arimo Bold"/>
              </a:rPr>
              <a:t>Dataset: IDRiD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22080" y="3045777"/>
            <a:ext cx="6385917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Fundus </a:t>
            </a: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retinal images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</a:t>
            </a: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Resolution: 4288 × 2848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00496" y="4739632"/>
            <a:ext cx="9296532" cy="21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021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Used</a:t>
            </a:r>
            <a:r>
              <a:rPr lang="en-US" b="true" sz="3021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subsets:</a:t>
            </a:r>
          </a:p>
          <a:p>
            <a:pPr algn="l" marL="652366" indent="-326183" lvl="1">
              <a:lnSpc>
                <a:spcPts val="4230"/>
              </a:lnSpc>
              <a:buFont typeface="Arial"/>
              <a:buChar char="•"/>
            </a:pPr>
            <a:r>
              <a:rPr lang="en-US" b="true" sz="3021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Localization → OD &amp; Fovea coordinates  </a:t>
            </a:r>
          </a:p>
          <a:p>
            <a:pPr algn="l" marL="652366" indent="-326183" lvl="1">
              <a:lnSpc>
                <a:spcPts val="4230"/>
              </a:lnSpc>
              <a:buFont typeface="Arial"/>
              <a:buChar char="•"/>
            </a:pPr>
            <a:r>
              <a:rPr lang="en-US" b="true" sz="3021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Segmentation → OD masks</a:t>
            </a:r>
          </a:p>
          <a:p>
            <a:pPr algn="ctr">
              <a:lnSpc>
                <a:spcPts val="423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12734" y="3502213"/>
            <a:ext cx="862532" cy="86253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86B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03200" y="-85725"/>
              <a:ext cx="406400" cy="79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83297" y="819150"/>
            <a:ext cx="12921407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Preprocessing Pipeline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50622" y="2596068"/>
            <a:ext cx="2386757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Resize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12508" y="4317119"/>
            <a:ext cx="9862983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Color chanel Separation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07197" y="6196599"/>
            <a:ext cx="11473607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CLAHE(Contrast Enhancement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24624" y="8315835"/>
            <a:ext cx="7638752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Gaussian Smoothing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712734" y="5385189"/>
            <a:ext cx="862532" cy="86253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86BC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03200" y="-85725"/>
              <a:ext cx="406400" cy="79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2734" y="7398086"/>
            <a:ext cx="862532" cy="86253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86BC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03200" y="-85725"/>
              <a:ext cx="406400" cy="79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09204" y="-54051"/>
            <a:ext cx="8792111" cy="10287000"/>
            <a:chOff x="0" y="0"/>
            <a:chExt cx="11722815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81372" y="0"/>
              <a:ext cx="8841443" cy="13716000"/>
              <a:chOff x="0" y="0"/>
              <a:chExt cx="409326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09326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093260">
                    <a:moveTo>
                      <a:pt x="4093260" y="0"/>
                    </a:moveTo>
                    <a:lnTo>
                      <a:pt x="2122220" y="6350000"/>
                    </a:lnTo>
                    <a:lnTo>
                      <a:pt x="2065853" y="6350000"/>
                    </a:lnTo>
                    <a:lnTo>
                      <a:pt x="2065853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65853" y="0"/>
                    </a:lnTo>
                    <a:lnTo>
                      <a:pt x="2065853" y="0"/>
                    </a:lnTo>
                    <a:lnTo>
                      <a:pt x="4093260" y="0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72067"/>
              <a:ext cx="9766327" cy="13643933"/>
              <a:chOff x="0" y="0"/>
              <a:chExt cx="454533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54533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545330">
                    <a:moveTo>
                      <a:pt x="4545330" y="0"/>
                    </a:moveTo>
                    <a:lnTo>
                      <a:pt x="2574290" y="6350000"/>
                    </a:lnTo>
                    <a:lnTo>
                      <a:pt x="2474849" y="6350000"/>
                    </a:lnTo>
                    <a:lnTo>
                      <a:pt x="2078101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78101" y="0"/>
                    </a:lnTo>
                    <a:lnTo>
                      <a:pt x="2474849" y="0"/>
                    </a:lnTo>
                    <a:lnTo>
                      <a:pt x="4545330" y="0"/>
                    </a:lnTo>
                    <a:close/>
                  </a:path>
                </a:pathLst>
              </a:custGeom>
              <a:solidFill>
                <a:srgbClr val="84AAD8"/>
              </a:solidFill>
            </p:spPr>
          </p:sp>
        </p:grpSp>
      </p:grpSp>
      <p:sp>
        <p:nvSpPr>
          <p:cNvPr name="TextBox 7" id="7"/>
          <p:cNvSpPr txBox="true"/>
          <p:nvPr/>
        </p:nvSpPr>
        <p:spPr>
          <a:xfrm rot="0">
            <a:off x="7293025" y="540180"/>
            <a:ext cx="3701951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Resize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44330" y="2608920"/>
            <a:ext cx="6999339" cy="356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8"/>
              </a:lnSpc>
              <a:spcBef>
                <a:spcPct val="0"/>
              </a:spcBef>
            </a:pPr>
            <a:r>
              <a:rPr lang="en-US" sz="3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images resized to 512 × 512</a:t>
            </a:r>
          </a:p>
          <a:p>
            <a:pPr algn="l">
              <a:lnSpc>
                <a:spcPts val="5608"/>
              </a:lnSpc>
              <a:spcBef>
                <a:spcPct val="0"/>
              </a:spcBef>
            </a:pPr>
            <a:r>
              <a:rPr lang="en-US" sz="3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Reasons:</a:t>
            </a:r>
          </a:p>
          <a:p>
            <a:pPr algn="l">
              <a:lnSpc>
                <a:spcPts val="5608"/>
              </a:lnSpc>
              <a:spcBef>
                <a:spcPct val="0"/>
              </a:spcBef>
            </a:pPr>
            <a:r>
              <a:rPr lang="en-US" sz="3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processing</a:t>
            </a:r>
          </a:p>
          <a:p>
            <a:pPr algn="l">
              <a:lnSpc>
                <a:spcPts val="5608"/>
              </a:lnSpc>
              <a:spcBef>
                <a:spcPct val="0"/>
              </a:spcBef>
            </a:pPr>
            <a:r>
              <a:rPr lang="en-US" sz="3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Consistent filter behavior</a:t>
            </a:r>
          </a:p>
          <a:p>
            <a:pPr algn="l">
              <a:lnSpc>
                <a:spcPts val="5608"/>
              </a:lnSpc>
              <a:spcBef>
                <a:spcPct val="0"/>
              </a:spcBef>
            </a:pPr>
            <a:r>
              <a:rPr lang="en-US" sz="3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Suitable structure scale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09204" y="-54051"/>
            <a:ext cx="8792111" cy="10287000"/>
            <a:chOff x="0" y="0"/>
            <a:chExt cx="11722815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81372" y="0"/>
              <a:ext cx="8841443" cy="13716000"/>
              <a:chOff x="0" y="0"/>
              <a:chExt cx="409326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09326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093260">
                    <a:moveTo>
                      <a:pt x="4093260" y="0"/>
                    </a:moveTo>
                    <a:lnTo>
                      <a:pt x="2122220" y="6350000"/>
                    </a:lnTo>
                    <a:lnTo>
                      <a:pt x="2065853" y="6350000"/>
                    </a:lnTo>
                    <a:lnTo>
                      <a:pt x="2065853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65853" y="0"/>
                    </a:lnTo>
                    <a:lnTo>
                      <a:pt x="2065853" y="0"/>
                    </a:lnTo>
                    <a:lnTo>
                      <a:pt x="4093260" y="0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72067"/>
              <a:ext cx="9766327" cy="13643933"/>
              <a:chOff x="0" y="0"/>
              <a:chExt cx="454533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54533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545330">
                    <a:moveTo>
                      <a:pt x="4545330" y="0"/>
                    </a:moveTo>
                    <a:lnTo>
                      <a:pt x="2574290" y="6350000"/>
                    </a:lnTo>
                    <a:lnTo>
                      <a:pt x="2474849" y="6350000"/>
                    </a:lnTo>
                    <a:lnTo>
                      <a:pt x="2078101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78101" y="0"/>
                    </a:lnTo>
                    <a:lnTo>
                      <a:pt x="2474849" y="0"/>
                    </a:lnTo>
                    <a:lnTo>
                      <a:pt x="4545330" y="0"/>
                    </a:lnTo>
                    <a:close/>
                  </a:path>
                </a:pathLst>
              </a:custGeom>
              <a:solidFill>
                <a:srgbClr val="84AAD8"/>
              </a:solidFill>
            </p:spPr>
          </p:sp>
        </p:grpSp>
      </p:grpSp>
      <p:sp>
        <p:nvSpPr>
          <p:cNvPr name="TextBox 7" id="7"/>
          <p:cNvSpPr txBox="true"/>
          <p:nvPr/>
        </p:nvSpPr>
        <p:spPr>
          <a:xfrm rot="0">
            <a:off x="4814327" y="2616032"/>
            <a:ext cx="8135949" cy="248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2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 channel → brightness info</a:t>
            </a:r>
          </a:p>
          <a:p>
            <a:pPr algn="l">
              <a:lnSpc>
                <a:spcPts val="3912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Green channel → best vessel contrast </a:t>
            </a:r>
          </a:p>
          <a:p>
            <a:pPr algn="l">
              <a:lnSpc>
                <a:spcPts val="3912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Blue channel → noisy </a:t>
            </a:r>
          </a:p>
          <a:p>
            <a:pPr algn="l">
              <a:lnSpc>
                <a:spcPts val="3912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 Final choice:</a:t>
            </a:r>
          </a:p>
          <a:p>
            <a:pPr algn="l">
              <a:lnSpc>
                <a:spcPts val="3912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Green channel used for vessel-based processing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5908" y="5701446"/>
            <a:ext cx="17496184" cy="4229425"/>
          </a:xfrm>
          <a:custGeom>
            <a:avLst/>
            <a:gdLst/>
            <a:ahLst/>
            <a:cxnLst/>
            <a:rect r="r" b="b" t="t" l="l"/>
            <a:pathLst>
              <a:path h="4229425" w="17496184">
                <a:moveTo>
                  <a:pt x="0" y="0"/>
                </a:moveTo>
                <a:lnTo>
                  <a:pt x="17496184" y="0"/>
                </a:lnTo>
                <a:lnTo>
                  <a:pt x="17496184" y="4229425"/>
                </a:lnTo>
                <a:lnTo>
                  <a:pt x="0" y="422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56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65400" y="470438"/>
            <a:ext cx="12357199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Color Chanel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87092" y="2162016"/>
            <a:ext cx="11200706" cy="8070933"/>
          </a:xfrm>
          <a:custGeom>
            <a:avLst/>
            <a:gdLst/>
            <a:ahLst/>
            <a:cxnLst/>
            <a:rect r="r" b="b" t="t" l="l"/>
            <a:pathLst>
              <a:path h="8070933" w="11200706">
                <a:moveTo>
                  <a:pt x="0" y="0"/>
                </a:moveTo>
                <a:lnTo>
                  <a:pt x="11200706" y="0"/>
                </a:lnTo>
                <a:lnTo>
                  <a:pt x="11200706" y="8070933"/>
                </a:lnTo>
                <a:lnTo>
                  <a:pt x="0" y="8070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22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009204" y="-54051"/>
            <a:ext cx="8792111" cy="10287000"/>
            <a:chOff x="0" y="0"/>
            <a:chExt cx="11722815" cy="137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81372" y="0"/>
              <a:ext cx="8841443" cy="13716000"/>
              <a:chOff x="0" y="0"/>
              <a:chExt cx="4093260" cy="635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9326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093260">
                    <a:moveTo>
                      <a:pt x="4093260" y="0"/>
                    </a:moveTo>
                    <a:lnTo>
                      <a:pt x="2122220" y="6350000"/>
                    </a:lnTo>
                    <a:lnTo>
                      <a:pt x="2065853" y="6350000"/>
                    </a:lnTo>
                    <a:lnTo>
                      <a:pt x="2065853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65853" y="0"/>
                    </a:lnTo>
                    <a:lnTo>
                      <a:pt x="2065853" y="0"/>
                    </a:lnTo>
                    <a:lnTo>
                      <a:pt x="4093260" y="0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72067"/>
              <a:ext cx="9766327" cy="13643933"/>
              <a:chOff x="0" y="0"/>
              <a:chExt cx="454533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4533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545330">
                    <a:moveTo>
                      <a:pt x="4545330" y="0"/>
                    </a:moveTo>
                    <a:lnTo>
                      <a:pt x="2574290" y="6350000"/>
                    </a:lnTo>
                    <a:lnTo>
                      <a:pt x="2474849" y="6350000"/>
                    </a:lnTo>
                    <a:lnTo>
                      <a:pt x="2078101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78101" y="0"/>
                    </a:lnTo>
                    <a:lnTo>
                      <a:pt x="2474849" y="0"/>
                    </a:lnTo>
                    <a:lnTo>
                      <a:pt x="4545330" y="0"/>
                    </a:lnTo>
                    <a:close/>
                  </a:path>
                </a:pathLst>
              </a:custGeom>
              <a:solidFill>
                <a:srgbClr val="84AAD8"/>
              </a:solidFill>
            </p:spPr>
          </p:sp>
        </p:grpSp>
      </p:grpSp>
      <p:sp>
        <p:nvSpPr>
          <p:cNvPr name="TextBox 8" id="8"/>
          <p:cNvSpPr txBox="true"/>
          <p:nvPr/>
        </p:nvSpPr>
        <p:spPr>
          <a:xfrm rot="0">
            <a:off x="1825931" y="607923"/>
            <a:ext cx="14636138" cy="116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34"/>
              </a:lnSpc>
            </a:pPr>
            <a:r>
              <a:rPr lang="en-US" sz="666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Contrast Enhancement (CLAHE)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894" y="3057315"/>
            <a:ext cx="5332198" cy="4048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4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Solves uneven illumination</a:t>
            </a:r>
          </a:p>
          <a:p>
            <a:pPr algn="l">
              <a:lnSpc>
                <a:spcPts val="4544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Works locally (tiles)</a:t>
            </a:r>
          </a:p>
          <a:p>
            <a:pPr algn="l">
              <a:lnSpc>
                <a:spcPts val="4544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Prevents noise amplification</a:t>
            </a:r>
          </a:p>
          <a:p>
            <a:pPr algn="l">
              <a:lnSpc>
                <a:spcPts val="4544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 Result:</a:t>
            </a:r>
          </a:p>
          <a:p>
            <a:pPr algn="l">
              <a:lnSpc>
                <a:spcPts val="4544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Improves vessel &amp; optic disc visibility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09204" y="-54051"/>
            <a:ext cx="8792111" cy="10287000"/>
            <a:chOff x="0" y="0"/>
            <a:chExt cx="11722815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81372" y="0"/>
              <a:ext cx="8841443" cy="13716000"/>
              <a:chOff x="0" y="0"/>
              <a:chExt cx="409326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09326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093260">
                    <a:moveTo>
                      <a:pt x="4093260" y="0"/>
                    </a:moveTo>
                    <a:lnTo>
                      <a:pt x="2122220" y="6350000"/>
                    </a:lnTo>
                    <a:lnTo>
                      <a:pt x="2065853" y="6350000"/>
                    </a:lnTo>
                    <a:lnTo>
                      <a:pt x="2065853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65853" y="0"/>
                    </a:lnTo>
                    <a:lnTo>
                      <a:pt x="2065853" y="0"/>
                    </a:lnTo>
                    <a:lnTo>
                      <a:pt x="4093260" y="0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72067"/>
              <a:ext cx="9766327" cy="13643933"/>
              <a:chOff x="0" y="0"/>
              <a:chExt cx="454533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54533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545330">
                    <a:moveTo>
                      <a:pt x="4545330" y="0"/>
                    </a:moveTo>
                    <a:lnTo>
                      <a:pt x="2574290" y="6350000"/>
                    </a:lnTo>
                    <a:lnTo>
                      <a:pt x="2474849" y="6350000"/>
                    </a:lnTo>
                    <a:lnTo>
                      <a:pt x="2078101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78101" y="0"/>
                    </a:lnTo>
                    <a:lnTo>
                      <a:pt x="2474849" y="0"/>
                    </a:lnTo>
                    <a:lnTo>
                      <a:pt x="4545330" y="0"/>
                    </a:lnTo>
                    <a:close/>
                  </a:path>
                </a:pathLst>
              </a:custGeom>
              <a:solidFill>
                <a:srgbClr val="84AAD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1534333" y="6049517"/>
            <a:ext cx="15560443" cy="3703527"/>
          </a:xfrm>
          <a:custGeom>
            <a:avLst/>
            <a:gdLst/>
            <a:ahLst/>
            <a:cxnLst/>
            <a:rect r="r" b="b" t="t" l="l"/>
            <a:pathLst>
              <a:path h="3703527" w="15560443">
                <a:moveTo>
                  <a:pt x="0" y="0"/>
                </a:moveTo>
                <a:lnTo>
                  <a:pt x="15560443" y="0"/>
                </a:lnTo>
                <a:lnTo>
                  <a:pt x="15560443" y="3703527"/>
                </a:lnTo>
                <a:lnTo>
                  <a:pt x="0" y="3703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25" r="-968" b="-912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01678" y="440780"/>
            <a:ext cx="11684645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Gaussian Smoothing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74489" y="1912075"/>
            <a:ext cx="9018921" cy="344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  <a:spcBef>
                <a:spcPct val="0"/>
              </a:spcBef>
            </a:pPr>
          </a:p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Removes noise &amp; small artifacts</a:t>
            </a:r>
          </a:p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σ = 6 used</a:t>
            </a:r>
          </a:p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Produces smooth illumination map</a:t>
            </a:r>
          </a:p>
          <a:p>
            <a:pPr algn="l">
              <a:lnSpc>
                <a:spcPts val="5435"/>
              </a:lnSpc>
              <a:spcBef>
                <a:spcPct val="0"/>
              </a:spcBef>
            </a:pPr>
            <a:r>
              <a:rPr lang="en-US" sz="36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⚠ Problem: Also removes vessel details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09204" y="-54051"/>
            <a:ext cx="8792111" cy="10287000"/>
            <a:chOff x="0" y="0"/>
            <a:chExt cx="11722815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81372" y="0"/>
              <a:ext cx="8841443" cy="13716000"/>
              <a:chOff x="0" y="0"/>
              <a:chExt cx="409326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09326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093260">
                    <a:moveTo>
                      <a:pt x="4093260" y="0"/>
                    </a:moveTo>
                    <a:lnTo>
                      <a:pt x="2122220" y="6350000"/>
                    </a:lnTo>
                    <a:lnTo>
                      <a:pt x="2065853" y="6350000"/>
                    </a:lnTo>
                    <a:lnTo>
                      <a:pt x="2065853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65853" y="0"/>
                    </a:lnTo>
                    <a:lnTo>
                      <a:pt x="2065853" y="0"/>
                    </a:lnTo>
                    <a:lnTo>
                      <a:pt x="4093260" y="0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72067"/>
              <a:ext cx="9766327" cy="13643933"/>
              <a:chOff x="0" y="0"/>
              <a:chExt cx="454533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54533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545330">
                    <a:moveTo>
                      <a:pt x="4545330" y="0"/>
                    </a:moveTo>
                    <a:lnTo>
                      <a:pt x="2574290" y="6350000"/>
                    </a:lnTo>
                    <a:lnTo>
                      <a:pt x="2474849" y="6350000"/>
                    </a:lnTo>
                    <a:lnTo>
                      <a:pt x="2078101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78101" y="0"/>
                    </a:lnTo>
                    <a:lnTo>
                      <a:pt x="2474849" y="0"/>
                    </a:lnTo>
                    <a:lnTo>
                      <a:pt x="4545330" y="0"/>
                    </a:lnTo>
                    <a:close/>
                  </a:path>
                </a:pathLst>
              </a:custGeom>
              <a:solidFill>
                <a:srgbClr val="84AAD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1656382" y="5771189"/>
            <a:ext cx="15855827" cy="4006935"/>
          </a:xfrm>
          <a:custGeom>
            <a:avLst/>
            <a:gdLst/>
            <a:ahLst/>
            <a:cxnLst/>
            <a:rect r="r" b="b" t="t" l="l"/>
            <a:pathLst>
              <a:path h="4006935" w="15855827">
                <a:moveTo>
                  <a:pt x="0" y="0"/>
                </a:moveTo>
                <a:lnTo>
                  <a:pt x="15855827" y="0"/>
                </a:lnTo>
                <a:lnTo>
                  <a:pt x="15855827" y="4006934"/>
                </a:lnTo>
                <a:lnTo>
                  <a:pt x="0" y="4006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09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59833" y="192236"/>
            <a:ext cx="9738122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Unsharp Masking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14265" y="1949280"/>
            <a:ext cx="8884697" cy="31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1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Restores lost vessel details</a:t>
            </a:r>
          </a:p>
          <a:p>
            <a:pPr algn="l">
              <a:lnSpc>
                <a:spcPts val="5021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Formula:</a:t>
            </a:r>
          </a:p>
          <a:p>
            <a:pPr algn="l">
              <a:lnSpc>
                <a:spcPts val="5021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sharpened = original + k(high-frequency)</a:t>
            </a:r>
          </a:p>
          <a:p>
            <a:pPr algn="l">
              <a:lnSpc>
                <a:spcPts val="5021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 Result:</a:t>
            </a:r>
          </a:p>
          <a:p>
            <a:pPr algn="l">
              <a:lnSpc>
                <a:spcPts val="5021"/>
              </a:lnSpc>
              <a:spcBef>
                <a:spcPct val="0"/>
              </a:spcBef>
            </a:pPr>
            <a:r>
              <a:rPr lang="en-US" sz="33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Smooth background + clear vessels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8917862" y="-1258054"/>
            <a:ext cx="11455832" cy="4573507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</p:grpSp>
      <p:grpSp>
        <p:nvGrpSpPr>
          <p:cNvPr name="Group 4" id="4"/>
          <p:cNvGrpSpPr/>
          <p:nvPr/>
        </p:nvGrpSpPr>
        <p:grpSpPr>
          <a:xfrm rot="402588">
            <a:off x="-40334" y="-2166249"/>
            <a:ext cx="18368668" cy="5269511"/>
            <a:chOff x="0" y="0"/>
            <a:chExt cx="66560174" cy="19094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60173" cy="19094450"/>
            </a:xfrm>
            <a:custGeom>
              <a:avLst/>
              <a:gdLst/>
              <a:ahLst/>
              <a:cxnLst/>
              <a:rect r="r" b="b" t="t" l="l"/>
              <a:pathLst>
                <a:path h="19094450" w="66560173">
                  <a:moveTo>
                    <a:pt x="66560173" y="16098520"/>
                  </a:moveTo>
                  <a:cubicBezTo>
                    <a:pt x="41514430" y="18167350"/>
                    <a:pt x="15360763" y="18900139"/>
                    <a:pt x="0" y="19094450"/>
                  </a:cubicBezTo>
                  <a:lnTo>
                    <a:pt x="0" y="0"/>
                  </a:lnTo>
                  <a:lnTo>
                    <a:pt x="66560173" y="0"/>
                  </a:lnTo>
                </a:path>
              </a:pathLst>
            </a:custGeom>
            <a:solidFill>
              <a:srgbClr val="84AAD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18258" y="453002"/>
            <a:ext cx="15451485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Optic Disc Center Detection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75468" y="3634789"/>
            <a:ext cx="4767163" cy="4962739"/>
          </a:xfrm>
          <a:custGeom>
            <a:avLst/>
            <a:gdLst/>
            <a:ahLst/>
            <a:cxnLst/>
            <a:rect r="r" b="b" t="t" l="l"/>
            <a:pathLst>
              <a:path h="4962739" w="4767163">
                <a:moveTo>
                  <a:pt x="0" y="0"/>
                </a:moveTo>
                <a:lnTo>
                  <a:pt x="4767162" y="0"/>
                </a:lnTo>
                <a:lnTo>
                  <a:pt x="4767162" y="4962738"/>
                </a:lnTo>
                <a:lnTo>
                  <a:pt x="0" y="49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61076" y="4554376"/>
            <a:ext cx="5514231" cy="301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Challeng</a:t>
            </a: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 due to: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Similar bright lesions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Vessel structures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Illumination variations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8917862" y="-1258054"/>
            <a:ext cx="11455832" cy="4573507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</p:grpSp>
      <p:grpSp>
        <p:nvGrpSpPr>
          <p:cNvPr name="Group 4" id="4"/>
          <p:cNvGrpSpPr/>
          <p:nvPr/>
        </p:nvGrpSpPr>
        <p:grpSpPr>
          <a:xfrm rot="402588">
            <a:off x="-40334" y="-2166249"/>
            <a:ext cx="18368668" cy="5269511"/>
            <a:chOff x="0" y="0"/>
            <a:chExt cx="66560174" cy="19094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60173" cy="19094450"/>
            </a:xfrm>
            <a:custGeom>
              <a:avLst/>
              <a:gdLst/>
              <a:ahLst/>
              <a:cxnLst/>
              <a:rect r="r" b="b" t="t" l="l"/>
              <a:pathLst>
                <a:path h="19094450" w="66560173">
                  <a:moveTo>
                    <a:pt x="66560173" y="16098520"/>
                  </a:moveTo>
                  <a:cubicBezTo>
                    <a:pt x="41514430" y="18167350"/>
                    <a:pt x="15360763" y="18900139"/>
                    <a:pt x="0" y="19094450"/>
                  </a:cubicBezTo>
                  <a:lnTo>
                    <a:pt x="0" y="0"/>
                  </a:lnTo>
                  <a:lnTo>
                    <a:pt x="66560173" y="0"/>
                  </a:lnTo>
                </a:path>
              </a:pathLst>
            </a:custGeom>
            <a:solidFill>
              <a:srgbClr val="84AAD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4697" y="453002"/>
            <a:ext cx="17658606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Optic Disc Localization Pipeline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79649" y="6964279"/>
            <a:ext cx="5807387" cy="2294021"/>
          </a:xfrm>
          <a:custGeom>
            <a:avLst/>
            <a:gdLst/>
            <a:ahLst/>
            <a:cxnLst/>
            <a:rect r="r" b="b" t="t" l="l"/>
            <a:pathLst>
              <a:path h="2294021" w="5807387">
                <a:moveTo>
                  <a:pt x="0" y="0"/>
                </a:moveTo>
                <a:lnTo>
                  <a:pt x="5807387" y="0"/>
                </a:lnTo>
                <a:lnTo>
                  <a:pt x="5807387" y="2294021"/>
                </a:lnTo>
                <a:lnTo>
                  <a:pt x="0" y="229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79649" y="3429499"/>
            <a:ext cx="4455855" cy="249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  <a:spcBef>
                <a:spcPct val="0"/>
              </a:spcBef>
            </a:pPr>
            <a:r>
              <a:rPr lang="en-US" b="true" sz="2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Multi-step classical approach</a:t>
            </a:r>
          </a:p>
          <a:p>
            <a:pPr algn="l">
              <a:lnSpc>
                <a:spcPts val="3268"/>
              </a:lnSpc>
              <a:spcBef>
                <a:spcPct val="0"/>
              </a:spcBef>
            </a:pPr>
            <a:r>
              <a:rPr lang="en-US" sz="2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multiple feature maps:</a:t>
            </a:r>
          </a:p>
          <a:p>
            <a:pPr algn="l" marL="470488" indent="-235244" lvl="1">
              <a:lnSpc>
                <a:spcPts val="3268"/>
              </a:lnSpc>
              <a:spcBef>
                <a:spcPct val="0"/>
              </a:spcBef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Brightness</a:t>
            </a:r>
          </a:p>
          <a:p>
            <a:pPr algn="l" marL="470488" indent="-235244" lvl="1">
              <a:lnSpc>
                <a:spcPts val="3268"/>
              </a:lnSpc>
              <a:spcBef>
                <a:spcPct val="0"/>
              </a:spcBef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Vessel density</a:t>
            </a:r>
          </a:p>
          <a:p>
            <a:pPr algn="l" marL="470488" indent="-235244" lvl="1">
              <a:lnSpc>
                <a:spcPts val="3268"/>
              </a:lnSpc>
              <a:spcBef>
                <a:spcPct val="0"/>
              </a:spcBef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Lesion suppression (penalty)</a:t>
            </a:r>
          </a:p>
          <a:p>
            <a:pPr algn="l" marL="470488" indent="-235244" lvl="1">
              <a:lnSpc>
                <a:spcPts val="3268"/>
              </a:lnSpc>
              <a:spcBef>
                <a:spcPct val="0"/>
              </a:spcBef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Anatomical prior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9649" y="6573755"/>
            <a:ext cx="5203775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 decision based on fused score map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72761" y="4713312"/>
            <a:ext cx="952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508051" y="4685061"/>
            <a:ext cx="7586539" cy="175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3300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Instead of relying on a single feature, combine multiple feature maps to make the detection more robust.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6223980" y="-3011448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E1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3937" y="1399698"/>
            <a:ext cx="7955036" cy="1962150"/>
            <a:chOff x="0" y="0"/>
            <a:chExt cx="10606715" cy="26162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606715" cy="2616200"/>
              <a:chOff x="0" y="0"/>
              <a:chExt cx="4095108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95108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4095108">
                    <a:moveTo>
                      <a:pt x="0" y="0"/>
                    </a:moveTo>
                    <a:lnTo>
                      <a:pt x="4095108" y="0"/>
                    </a:lnTo>
                    <a:lnTo>
                      <a:pt x="4095108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286BC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095108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237695" y="46778"/>
              <a:ext cx="8225605" cy="2417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E8E1DB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Field Mask Construction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610313" y="5200646"/>
            <a:ext cx="3067374" cy="3399799"/>
          </a:xfrm>
          <a:custGeom>
            <a:avLst/>
            <a:gdLst/>
            <a:ahLst/>
            <a:cxnLst/>
            <a:rect r="r" b="b" t="t" l="l"/>
            <a:pathLst>
              <a:path h="3399799" w="3067374">
                <a:moveTo>
                  <a:pt x="0" y="0"/>
                </a:moveTo>
                <a:lnTo>
                  <a:pt x="3067374" y="0"/>
                </a:lnTo>
                <a:lnTo>
                  <a:pt x="3067374" y="3399798"/>
                </a:lnTo>
                <a:lnTo>
                  <a:pt x="0" y="3399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63993" y="5448755"/>
            <a:ext cx="3064500" cy="3094544"/>
          </a:xfrm>
          <a:custGeom>
            <a:avLst/>
            <a:gdLst/>
            <a:ahLst/>
            <a:cxnLst/>
            <a:rect r="r" b="b" t="t" l="l"/>
            <a:pathLst>
              <a:path h="3094544" w="3064500">
                <a:moveTo>
                  <a:pt x="0" y="0"/>
                </a:moveTo>
                <a:lnTo>
                  <a:pt x="3064499" y="0"/>
                </a:lnTo>
                <a:lnTo>
                  <a:pt x="3064499" y="3094544"/>
                </a:lnTo>
                <a:lnTo>
                  <a:pt x="0" y="30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10912606" y="6276117"/>
            <a:ext cx="1516468" cy="1248856"/>
            <a:chOff x="0" y="0"/>
            <a:chExt cx="647700" cy="533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83937" y="5038725"/>
            <a:ext cx="6224439" cy="361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Removes black background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Keeps only retinal region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Steps: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Thresholding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Hole filling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Noise removal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6223980" y="-3011448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E1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404792"/>
            <a:ext cx="10455108" cy="1962150"/>
            <a:chOff x="0" y="0"/>
            <a:chExt cx="13940144" cy="26162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940144" cy="2616200"/>
              <a:chOff x="0" y="0"/>
              <a:chExt cx="5382100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382100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5382100">
                    <a:moveTo>
                      <a:pt x="0" y="0"/>
                    </a:moveTo>
                    <a:lnTo>
                      <a:pt x="5382100" y="0"/>
                    </a:lnTo>
                    <a:lnTo>
                      <a:pt x="5382100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286BC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382100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26672" y="46778"/>
              <a:ext cx="10810710" cy="2417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E8E1DB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Multi-scale Brightness Maps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693935" y="2759598"/>
            <a:ext cx="10900130" cy="4767804"/>
          </a:xfrm>
          <a:custGeom>
            <a:avLst/>
            <a:gdLst/>
            <a:ahLst/>
            <a:cxnLst/>
            <a:rect r="r" b="b" t="t" l="l"/>
            <a:pathLst>
              <a:path h="4767804" w="10900130">
                <a:moveTo>
                  <a:pt x="0" y="0"/>
                </a:moveTo>
                <a:lnTo>
                  <a:pt x="10900130" y="0"/>
                </a:lnTo>
                <a:lnTo>
                  <a:pt x="10900130" y="4767804"/>
                </a:lnTo>
                <a:lnTo>
                  <a:pt x="0" y="476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86756" y="7441677"/>
            <a:ext cx="4447990" cy="193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  <a:spcBef>
                <a:spcPct val="0"/>
              </a:spcBef>
            </a:pPr>
          </a:p>
          <a:p>
            <a:pPr algn="l">
              <a:lnSpc>
                <a:spcPts val="3812"/>
              </a:lnSpc>
              <a:spcBef>
                <a:spcPct val="0"/>
              </a:spcBef>
            </a:pPr>
            <a:r>
              <a:rPr lang="en-US" sz="27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Captures local details and highlights small bright regions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12982" y="7451202"/>
            <a:ext cx="4381083" cy="191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7"/>
              </a:lnSpc>
              <a:spcBef>
                <a:spcPct val="0"/>
              </a:spcBef>
            </a:pPr>
          </a:p>
          <a:p>
            <a:pPr algn="l">
              <a:lnSpc>
                <a:spcPts val="3777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Captures global structure and emphasize overall brightness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6223980" y="-3011448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E1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404792"/>
            <a:ext cx="9841622" cy="1962150"/>
            <a:chOff x="0" y="0"/>
            <a:chExt cx="13122163" cy="26162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122163" cy="2616200"/>
              <a:chOff x="0" y="0"/>
              <a:chExt cx="5066289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66289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5066289">
                    <a:moveTo>
                      <a:pt x="0" y="0"/>
                    </a:moveTo>
                    <a:lnTo>
                      <a:pt x="5066289" y="0"/>
                    </a:lnTo>
                    <a:lnTo>
                      <a:pt x="5066289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286BC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66289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31222" y="46778"/>
              <a:ext cx="10176358" cy="2417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E8E1DB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Adaptive Percentile Threshold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43880" y="4640937"/>
            <a:ext cx="13523503" cy="5646063"/>
          </a:xfrm>
          <a:custGeom>
            <a:avLst/>
            <a:gdLst/>
            <a:ahLst/>
            <a:cxnLst/>
            <a:rect r="r" b="b" t="t" l="l"/>
            <a:pathLst>
              <a:path h="5646063" w="13523503">
                <a:moveTo>
                  <a:pt x="0" y="0"/>
                </a:moveTo>
                <a:lnTo>
                  <a:pt x="13523503" y="0"/>
                </a:lnTo>
                <a:lnTo>
                  <a:pt x="13523503" y="5646063"/>
                </a:lnTo>
                <a:lnTo>
                  <a:pt x="0" y="5646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115524" y="300017"/>
            <a:ext cx="6955806" cy="241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 5% brightest pixels selected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produces candidate regions for optic disc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0629" y="3142307"/>
            <a:ext cx="570160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! </a:t>
            </a: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Image-specific threshold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6223980" y="-3011448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E1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404792"/>
            <a:ext cx="9841622" cy="1962150"/>
            <a:chOff x="0" y="0"/>
            <a:chExt cx="13122163" cy="26162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122163" cy="2616200"/>
              <a:chOff x="0" y="0"/>
              <a:chExt cx="5066289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66289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5066289">
                    <a:moveTo>
                      <a:pt x="0" y="0"/>
                    </a:moveTo>
                    <a:lnTo>
                      <a:pt x="5066289" y="0"/>
                    </a:lnTo>
                    <a:lnTo>
                      <a:pt x="5066289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286BC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66289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31222" y="46778"/>
              <a:ext cx="10176358" cy="2417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E8E1DB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Bright Candidate Cleanup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31203" y="5589888"/>
            <a:ext cx="14094538" cy="4439779"/>
          </a:xfrm>
          <a:custGeom>
            <a:avLst/>
            <a:gdLst/>
            <a:ahLst/>
            <a:cxnLst/>
            <a:rect r="r" b="b" t="t" l="l"/>
            <a:pathLst>
              <a:path h="4439779" w="14094538">
                <a:moveTo>
                  <a:pt x="0" y="0"/>
                </a:moveTo>
                <a:lnTo>
                  <a:pt x="14094538" y="0"/>
                </a:lnTo>
                <a:lnTo>
                  <a:pt x="14094538" y="4439780"/>
                </a:lnTo>
                <a:lnTo>
                  <a:pt x="0" y="4439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57989" y="2931458"/>
            <a:ext cx="6863993" cy="197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2"/>
              </a:lnSpc>
              <a:spcBef>
                <a:spcPct val="0"/>
              </a:spcBef>
            </a:pPr>
            <a:r>
              <a:rPr lang="en-US" sz="34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Morphological opening</a:t>
            </a:r>
          </a:p>
          <a:p>
            <a:pPr algn="l">
              <a:lnSpc>
                <a:spcPts val="5192"/>
              </a:lnSpc>
              <a:spcBef>
                <a:spcPct val="0"/>
              </a:spcBef>
            </a:pPr>
            <a:r>
              <a:rPr lang="en-US" sz="34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Remove small regions</a:t>
            </a:r>
          </a:p>
          <a:p>
            <a:pPr algn="l">
              <a:lnSpc>
                <a:spcPts val="5192"/>
              </a:lnSpc>
              <a:spcBef>
                <a:spcPct val="0"/>
              </a:spcBef>
            </a:pPr>
            <a:r>
              <a:rPr lang="en-US" sz="34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plausible disc candidates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9918">
            <a:off x="-5320593" y="-2288134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1032337"/>
            <a:ext cx="9841622" cy="1962150"/>
            <a:chOff x="0" y="0"/>
            <a:chExt cx="13122163" cy="26162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122163" cy="2616200"/>
              <a:chOff x="0" y="0"/>
              <a:chExt cx="5066289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66289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5066289">
                    <a:moveTo>
                      <a:pt x="0" y="0"/>
                    </a:moveTo>
                    <a:lnTo>
                      <a:pt x="5066289" y="0"/>
                    </a:lnTo>
                    <a:lnTo>
                      <a:pt x="5066289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66289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31222" y="46778"/>
              <a:ext cx="10176358" cy="2417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Vessel Enhancement (Unsharp Masking)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80091" y="5466232"/>
            <a:ext cx="15949643" cy="3927600"/>
          </a:xfrm>
          <a:custGeom>
            <a:avLst/>
            <a:gdLst/>
            <a:ahLst/>
            <a:cxnLst/>
            <a:rect r="r" b="b" t="t" l="l"/>
            <a:pathLst>
              <a:path h="3927600" w="15949643">
                <a:moveTo>
                  <a:pt x="0" y="0"/>
                </a:moveTo>
                <a:lnTo>
                  <a:pt x="15949644" y="0"/>
                </a:lnTo>
                <a:lnTo>
                  <a:pt x="15949644" y="3927599"/>
                </a:lnTo>
                <a:lnTo>
                  <a:pt x="0" y="3927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07567" y="4065109"/>
            <a:ext cx="4866922" cy="1053446"/>
          </a:xfrm>
          <a:custGeom>
            <a:avLst/>
            <a:gdLst/>
            <a:ahLst/>
            <a:cxnLst/>
            <a:rect r="r" b="b" t="t" l="l"/>
            <a:pathLst>
              <a:path h="1053446" w="4866922">
                <a:moveTo>
                  <a:pt x="0" y="0"/>
                </a:moveTo>
                <a:lnTo>
                  <a:pt x="4866922" y="0"/>
                </a:lnTo>
                <a:lnTo>
                  <a:pt x="4866922" y="1053446"/>
                </a:lnTo>
                <a:lnTo>
                  <a:pt x="0" y="1053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078890" y="1899112"/>
            <a:ext cx="6180410" cy="181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2"/>
              </a:lnSpc>
              <a:spcBef>
                <a:spcPct val="0"/>
              </a:spcBef>
            </a:pPr>
            <a:r>
              <a:rPr lang="en-US" sz="31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Restore vessel details</a:t>
            </a:r>
          </a:p>
          <a:p>
            <a:pPr algn="l">
              <a:lnSpc>
                <a:spcPts val="4792"/>
              </a:lnSpc>
              <a:spcBef>
                <a:spcPct val="0"/>
              </a:spcBef>
            </a:pPr>
            <a:r>
              <a:rPr lang="en-US" sz="31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High-frequency enhancement</a:t>
            </a:r>
          </a:p>
          <a:p>
            <a:pPr algn="l">
              <a:lnSpc>
                <a:spcPts val="4792"/>
              </a:lnSpc>
              <a:spcBef>
                <a:spcPct val="0"/>
              </a:spcBef>
            </a:pPr>
            <a:r>
              <a:rPr lang="en-US" sz="31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Improves vessel detection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9918">
            <a:off x="-5320593" y="-2288134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1032337"/>
            <a:ext cx="9841622" cy="1962150"/>
            <a:chOff x="0" y="0"/>
            <a:chExt cx="13122163" cy="26162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122163" cy="2616200"/>
              <a:chOff x="0" y="0"/>
              <a:chExt cx="5066289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66289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5066289">
                    <a:moveTo>
                      <a:pt x="0" y="0"/>
                    </a:moveTo>
                    <a:lnTo>
                      <a:pt x="5066289" y="0"/>
                    </a:lnTo>
                    <a:lnTo>
                      <a:pt x="5066289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66289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31222" y="46778"/>
              <a:ext cx="10176358" cy="2417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Multi-orientation Vessel Detection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24661" y="5280948"/>
            <a:ext cx="8594141" cy="4346048"/>
          </a:xfrm>
          <a:custGeom>
            <a:avLst/>
            <a:gdLst/>
            <a:ahLst/>
            <a:cxnLst/>
            <a:rect r="r" b="b" t="t" l="l"/>
            <a:pathLst>
              <a:path h="4346048" w="8594141">
                <a:moveTo>
                  <a:pt x="0" y="0"/>
                </a:moveTo>
                <a:lnTo>
                  <a:pt x="8594141" y="0"/>
                </a:lnTo>
                <a:lnTo>
                  <a:pt x="8594141" y="4346048"/>
                </a:lnTo>
                <a:lnTo>
                  <a:pt x="0" y="434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65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88548" y="1044120"/>
            <a:ext cx="3610607" cy="4099380"/>
          </a:xfrm>
          <a:custGeom>
            <a:avLst/>
            <a:gdLst/>
            <a:ahLst/>
            <a:cxnLst/>
            <a:rect r="r" b="b" t="t" l="l"/>
            <a:pathLst>
              <a:path h="4099380" w="3610607">
                <a:moveTo>
                  <a:pt x="0" y="0"/>
                </a:moveTo>
                <a:lnTo>
                  <a:pt x="3610607" y="0"/>
                </a:lnTo>
                <a:lnTo>
                  <a:pt x="3610607" y="4099380"/>
                </a:lnTo>
                <a:lnTo>
                  <a:pt x="0" y="4099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10915" y="4991100"/>
            <a:ext cx="7902498" cy="217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b="true" sz="3804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Bottom-hat filtering</a:t>
            </a:r>
          </a:p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12 orientations detect vessels in all directions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10915" y="7339672"/>
            <a:ext cx="7326657" cy="239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2"/>
              </a:lnSpc>
              <a:spcBef>
                <a:spcPct val="0"/>
              </a:spcBef>
            </a:pPr>
            <a:r>
              <a:rPr lang="en-US" sz="31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orientation captures vessels aligned with that direction, and we combine them using a pixel-wise maximum.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9918">
            <a:off x="-5320593" y="-2288134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1032337"/>
            <a:ext cx="9841622" cy="1028700"/>
            <a:chOff x="0" y="0"/>
            <a:chExt cx="13122163" cy="1371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122163" cy="1371600"/>
              <a:chOff x="0" y="0"/>
              <a:chExt cx="5066289" cy="5295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66289" cy="529556"/>
              </a:xfrm>
              <a:custGeom>
                <a:avLst/>
                <a:gdLst/>
                <a:ahLst/>
                <a:cxnLst/>
                <a:rect r="r" b="b" t="t" l="l"/>
                <a:pathLst>
                  <a:path h="529556" w="5066289">
                    <a:moveTo>
                      <a:pt x="0" y="0"/>
                    </a:moveTo>
                    <a:lnTo>
                      <a:pt x="5066289" y="0"/>
                    </a:lnTo>
                    <a:lnTo>
                      <a:pt x="5066289" y="529556"/>
                    </a:lnTo>
                    <a:lnTo>
                      <a:pt x="0" y="529556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66289" cy="5676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31222" y="46778"/>
              <a:ext cx="10176358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Vessel Density Map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599341" y="5284243"/>
            <a:ext cx="3940011" cy="4339459"/>
          </a:xfrm>
          <a:custGeom>
            <a:avLst/>
            <a:gdLst/>
            <a:ahLst/>
            <a:cxnLst/>
            <a:rect r="r" b="b" t="t" l="l"/>
            <a:pathLst>
              <a:path h="4339459" w="3940011">
                <a:moveTo>
                  <a:pt x="0" y="0"/>
                </a:moveTo>
                <a:lnTo>
                  <a:pt x="3940011" y="0"/>
                </a:lnTo>
                <a:lnTo>
                  <a:pt x="3940011" y="4339459"/>
                </a:lnTo>
                <a:lnTo>
                  <a:pt x="0" y="4339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446025" y="858412"/>
            <a:ext cx="4590006" cy="4990160"/>
          </a:xfrm>
          <a:custGeom>
            <a:avLst/>
            <a:gdLst/>
            <a:ahLst/>
            <a:cxnLst/>
            <a:rect r="r" b="b" t="t" l="l"/>
            <a:pathLst>
              <a:path h="4990160" w="4590006">
                <a:moveTo>
                  <a:pt x="0" y="0"/>
                </a:moveTo>
                <a:lnTo>
                  <a:pt x="4590006" y="0"/>
                </a:lnTo>
                <a:lnTo>
                  <a:pt x="4590006" y="4990160"/>
                </a:lnTo>
                <a:lnTo>
                  <a:pt x="0" y="4990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88833" y="2272588"/>
            <a:ext cx="6955167" cy="2028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  <a:spcBef>
                <a:spcPct val="0"/>
              </a:spcBef>
            </a:pPr>
            <a:r>
              <a:rPr lang="en-US" sz="35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Disc has highest vessel density</a:t>
            </a:r>
          </a:p>
          <a:p>
            <a:pPr algn="l">
              <a:lnSpc>
                <a:spcPts val="5329"/>
              </a:lnSpc>
              <a:spcBef>
                <a:spcPct val="0"/>
              </a:spcBef>
            </a:pPr>
            <a:r>
              <a:rPr lang="en-US" sz="35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Disk kernel convolution</a:t>
            </a:r>
          </a:p>
          <a:p>
            <a:pPr algn="l">
              <a:lnSpc>
                <a:spcPts val="5329"/>
              </a:lnSpc>
              <a:spcBef>
                <a:spcPct val="0"/>
              </a:spcBef>
            </a:pPr>
            <a:r>
              <a:rPr lang="en-US" sz="35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Peak indicates OD region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58966" y="7358722"/>
            <a:ext cx="10867154" cy="132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8"/>
              </a:lnSpc>
              <a:spcBef>
                <a:spcPct val="0"/>
              </a:spcBef>
            </a:pPr>
            <a:r>
              <a:rPr lang="en-US" sz="23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Disk-kernel convolution of the binary vessel map. The kernel size matches the expected optic disc area, so the convolution peaks at the disc center.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48425" y="5965282"/>
            <a:ext cx="4185206" cy="90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0"/>
              </a:lnSpc>
            </a:pPr>
            <a:r>
              <a:rPr lang="en-US" sz="2366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bright area =&gt; more vessels</a:t>
            </a:r>
          </a:p>
          <a:p>
            <a:pPr algn="l">
              <a:lnSpc>
                <a:spcPts val="3550"/>
              </a:lnSpc>
              <a:spcBef>
                <a:spcPct val="0"/>
              </a:spcBef>
            </a:pPr>
            <a:r>
              <a:rPr lang="en-US" sz="2366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dark area =&gt; less vessel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15760">
            <a:off x="-9030569" y="-3674001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28342" y="1028700"/>
            <a:ext cx="9841622" cy="1028700"/>
            <a:chOff x="0" y="0"/>
            <a:chExt cx="13122163" cy="1371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122163" cy="1371600"/>
              <a:chOff x="0" y="0"/>
              <a:chExt cx="5066289" cy="5295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66289" cy="529556"/>
              </a:xfrm>
              <a:custGeom>
                <a:avLst/>
                <a:gdLst/>
                <a:ahLst/>
                <a:cxnLst/>
                <a:rect r="r" b="b" t="t" l="l"/>
                <a:pathLst>
                  <a:path h="529556" w="5066289">
                    <a:moveTo>
                      <a:pt x="0" y="0"/>
                    </a:moveTo>
                    <a:lnTo>
                      <a:pt x="5066289" y="0"/>
                    </a:lnTo>
                    <a:lnTo>
                      <a:pt x="5066289" y="529556"/>
                    </a:lnTo>
                    <a:lnTo>
                      <a:pt x="0" y="529556"/>
                    </a:lnTo>
                    <a:close/>
                  </a:path>
                </a:pathLst>
              </a:custGeom>
              <a:solidFill>
                <a:srgbClr val="D44B54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66289" cy="5676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31222" y="46778"/>
              <a:ext cx="10176358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Lession Penalty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54678" y="5392054"/>
            <a:ext cx="15311867" cy="3866246"/>
          </a:xfrm>
          <a:custGeom>
            <a:avLst/>
            <a:gdLst/>
            <a:ahLst/>
            <a:cxnLst/>
            <a:rect r="r" b="b" t="t" l="l"/>
            <a:pathLst>
              <a:path h="3866246" w="15311867">
                <a:moveTo>
                  <a:pt x="0" y="0"/>
                </a:moveTo>
                <a:lnTo>
                  <a:pt x="15311867" y="0"/>
                </a:lnTo>
                <a:lnTo>
                  <a:pt x="15311867" y="3866246"/>
                </a:lnTo>
                <a:lnTo>
                  <a:pt x="0" y="3866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41919" y="2644648"/>
            <a:ext cx="8923883" cy="20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  <a:spcBef>
                <a:spcPct val="0"/>
              </a:spcBef>
            </a:pPr>
            <a:r>
              <a:rPr lang="en-US" sz="35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Removes bright lesions (false positives)</a:t>
            </a:r>
          </a:p>
          <a:p>
            <a:pPr algn="l">
              <a:lnSpc>
                <a:spcPts val="5329"/>
              </a:lnSpc>
              <a:spcBef>
                <a:spcPct val="0"/>
              </a:spcBef>
            </a:pPr>
            <a:r>
              <a:rPr lang="en-US" sz="35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White top-hat</a:t>
            </a:r>
          </a:p>
          <a:p>
            <a:pPr algn="l">
              <a:lnSpc>
                <a:spcPts val="5329"/>
              </a:lnSpc>
              <a:spcBef>
                <a:spcPct val="0"/>
              </a:spcBef>
            </a:pPr>
            <a:r>
              <a:rPr lang="en-US" sz="35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Penalizes isolated bright spots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15760">
            <a:off x="-9030569" y="-3674001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6519" y="766819"/>
            <a:ext cx="9841622" cy="1028700"/>
            <a:chOff x="0" y="0"/>
            <a:chExt cx="13122163" cy="1371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122163" cy="1371600"/>
              <a:chOff x="0" y="0"/>
              <a:chExt cx="5066289" cy="5295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66289" cy="529556"/>
              </a:xfrm>
              <a:custGeom>
                <a:avLst/>
                <a:gdLst/>
                <a:ahLst/>
                <a:cxnLst/>
                <a:rect r="r" b="b" t="t" l="l"/>
                <a:pathLst>
                  <a:path h="529556" w="5066289">
                    <a:moveTo>
                      <a:pt x="0" y="0"/>
                    </a:moveTo>
                    <a:lnTo>
                      <a:pt x="5066289" y="0"/>
                    </a:lnTo>
                    <a:lnTo>
                      <a:pt x="5066289" y="529556"/>
                    </a:lnTo>
                    <a:lnTo>
                      <a:pt x="0" y="529556"/>
                    </a:lnTo>
                    <a:close/>
                  </a:path>
                </a:pathLst>
              </a:custGeom>
              <a:solidFill>
                <a:srgbClr val="D44B54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66289" cy="5676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31222" y="46778"/>
              <a:ext cx="10176358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Score Fusion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406519" y="2291407"/>
            <a:ext cx="10630440" cy="7459958"/>
          </a:xfrm>
          <a:custGeom>
            <a:avLst/>
            <a:gdLst/>
            <a:ahLst/>
            <a:cxnLst/>
            <a:rect r="r" b="b" t="t" l="l"/>
            <a:pathLst>
              <a:path h="7459958" w="10630440">
                <a:moveTo>
                  <a:pt x="0" y="0"/>
                </a:moveTo>
                <a:lnTo>
                  <a:pt x="10630440" y="0"/>
                </a:lnTo>
                <a:lnTo>
                  <a:pt x="10630440" y="7459958"/>
                </a:lnTo>
                <a:lnTo>
                  <a:pt x="0" y="7459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4103267"/>
            <a:ext cx="4079434" cy="287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Combine all features:</a:t>
            </a:r>
          </a:p>
          <a:p>
            <a:pPr algn="l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Brightness</a:t>
            </a:r>
          </a:p>
          <a:p>
            <a:pPr algn="l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Vessel density</a:t>
            </a:r>
          </a:p>
          <a:p>
            <a:pPr algn="l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Anatomical prior</a:t>
            </a:r>
          </a:p>
          <a:p>
            <a:pPr algn="l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Lession Penalty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4296" y="5143500"/>
            <a:ext cx="1493970" cy="1493970"/>
          </a:xfrm>
          <a:custGeom>
            <a:avLst/>
            <a:gdLst/>
            <a:ahLst/>
            <a:cxnLst/>
            <a:rect r="r" b="b" t="t" l="l"/>
            <a:pathLst>
              <a:path h="1493970" w="1493970">
                <a:moveTo>
                  <a:pt x="0" y="0"/>
                </a:moveTo>
                <a:lnTo>
                  <a:pt x="1493971" y="0"/>
                </a:lnTo>
                <a:lnTo>
                  <a:pt x="1493971" y="1493970"/>
                </a:lnTo>
                <a:lnTo>
                  <a:pt x="0" y="1493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43545" y="1028700"/>
            <a:ext cx="748844" cy="748844"/>
          </a:xfrm>
          <a:custGeom>
            <a:avLst/>
            <a:gdLst/>
            <a:ahLst/>
            <a:cxnLst/>
            <a:rect r="r" b="b" t="t" l="l"/>
            <a:pathLst>
              <a:path h="748844" w="748844">
                <a:moveTo>
                  <a:pt x="0" y="0"/>
                </a:moveTo>
                <a:lnTo>
                  <a:pt x="748843" y="0"/>
                </a:lnTo>
                <a:lnTo>
                  <a:pt x="748843" y="748844"/>
                </a:lnTo>
                <a:lnTo>
                  <a:pt x="0" y="74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3132" y="656364"/>
            <a:ext cx="372336" cy="372336"/>
          </a:xfrm>
          <a:custGeom>
            <a:avLst/>
            <a:gdLst/>
            <a:ahLst/>
            <a:cxnLst/>
            <a:rect r="r" b="b" t="t" l="l"/>
            <a:pathLst>
              <a:path h="372336" w="372336">
                <a:moveTo>
                  <a:pt x="0" y="0"/>
                </a:moveTo>
                <a:lnTo>
                  <a:pt x="372336" y="0"/>
                </a:lnTo>
                <a:lnTo>
                  <a:pt x="372336" y="372336"/>
                </a:lnTo>
                <a:lnTo>
                  <a:pt x="0" y="3723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8238" y="8212912"/>
            <a:ext cx="740589" cy="740589"/>
          </a:xfrm>
          <a:custGeom>
            <a:avLst/>
            <a:gdLst/>
            <a:ahLst/>
            <a:cxnLst/>
            <a:rect r="r" b="b" t="t" l="l"/>
            <a:pathLst>
              <a:path h="740589" w="740589">
                <a:moveTo>
                  <a:pt x="0" y="0"/>
                </a:moveTo>
                <a:lnTo>
                  <a:pt x="740589" y="0"/>
                </a:lnTo>
                <a:lnTo>
                  <a:pt x="740589" y="740589"/>
                </a:lnTo>
                <a:lnTo>
                  <a:pt x="0" y="740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0746" y="6149626"/>
            <a:ext cx="433516" cy="514976"/>
          </a:xfrm>
          <a:custGeom>
            <a:avLst/>
            <a:gdLst/>
            <a:ahLst/>
            <a:cxnLst/>
            <a:rect r="r" b="b" t="t" l="l"/>
            <a:pathLst>
              <a:path h="514976" w="433516">
                <a:moveTo>
                  <a:pt x="0" y="0"/>
                </a:moveTo>
                <a:lnTo>
                  <a:pt x="433517" y="0"/>
                </a:lnTo>
                <a:lnTo>
                  <a:pt x="433517" y="514976"/>
                </a:lnTo>
                <a:lnTo>
                  <a:pt x="0" y="514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260955"/>
            <a:ext cx="15720500" cy="4951957"/>
          </a:xfrm>
          <a:custGeom>
            <a:avLst/>
            <a:gdLst/>
            <a:ahLst/>
            <a:cxnLst/>
            <a:rect r="r" b="b" t="t" l="l"/>
            <a:pathLst>
              <a:path h="4951957" w="15720500">
                <a:moveTo>
                  <a:pt x="0" y="0"/>
                </a:moveTo>
                <a:lnTo>
                  <a:pt x="15720500" y="0"/>
                </a:lnTo>
                <a:lnTo>
                  <a:pt x="15720500" y="4951957"/>
                </a:lnTo>
                <a:lnTo>
                  <a:pt x="0" y="49519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44249" y="796469"/>
            <a:ext cx="659975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84AAD8"/>
                </a:solidFill>
                <a:latin typeface="Poppins Bold"/>
                <a:ea typeface="Poppins Bold"/>
                <a:cs typeface="Poppins Bold"/>
                <a:sym typeface="Poppins Bold"/>
              </a:rPr>
              <a:t>Final Detection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69863" y="1961837"/>
            <a:ext cx="59080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86BC2"/>
                </a:solidFill>
                <a:latin typeface="Poppins Bold"/>
                <a:ea typeface="Poppins Bold"/>
                <a:cs typeface="Poppins Bold"/>
                <a:sym typeface="Poppins Bold"/>
              </a:rPr>
              <a:t>Optic Disc Detection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7504" y="1050154"/>
            <a:ext cx="6252635" cy="116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  <a:spcBef>
                <a:spcPct val="0"/>
              </a:spcBef>
            </a:pPr>
            <a:r>
              <a:rPr lang="en-US" sz="30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Connected component analysis</a:t>
            </a:r>
          </a:p>
          <a:p>
            <a:pPr algn="l">
              <a:lnSpc>
                <a:spcPts val="4599"/>
              </a:lnSpc>
              <a:spcBef>
                <a:spcPct val="0"/>
              </a:spcBef>
            </a:pPr>
            <a:r>
              <a:rPr lang="en-US" sz="30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Best region selected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8917862" y="-1258054"/>
            <a:ext cx="11455832" cy="4573507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</p:grpSp>
      <p:grpSp>
        <p:nvGrpSpPr>
          <p:cNvPr name="Group 4" id="4"/>
          <p:cNvGrpSpPr/>
          <p:nvPr/>
        </p:nvGrpSpPr>
        <p:grpSpPr>
          <a:xfrm rot="402588">
            <a:off x="-40334" y="-2166249"/>
            <a:ext cx="18368668" cy="5269511"/>
            <a:chOff x="0" y="0"/>
            <a:chExt cx="66560174" cy="19094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60173" cy="19094450"/>
            </a:xfrm>
            <a:custGeom>
              <a:avLst/>
              <a:gdLst/>
              <a:ahLst/>
              <a:cxnLst/>
              <a:rect r="r" b="b" t="t" l="l"/>
              <a:pathLst>
                <a:path h="19094450" w="66560173">
                  <a:moveTo>
                    <a:pt x="66560173" y="16098520"/>
                  </a:moveTo>
                  <a:cubicBezTo>
                    <a:pt x="41514430" y="18167350"/>
                    <a:pt x="15360763" y="18900139"/>
                    <a:pt x="0" y="19094450"/>
                  </a:cubicBezTo>
                  <a:lnTo>
                    <a:pt x="0" y="0"/>
                  </a:lnTo>
                  <a:lnTo>
                    <a:pt x="66560173" y="0"/>
                  </a:lnTo>
                </a:path>
              </a:pathLst>
            </a:custGeom>
            <a:solidFill>
              <a:srgbClr val="84AAD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30041" y="453002"/>
            <a:ext cx="13827919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Optic Disc Segmentation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79851" y="2959013"/>
            <a:ext cx="910944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84AAD8"/>
                </a:solidFill>
                <a:latin typeface="Poppins Bold"/>
                <a:ea typeface="Poppins Bold"/>
                <a:cs typeface="Poppins Bold"/>
                <a:sym typeface="Poppins Bold"/>
              </a:rPr>
              <a:t>Segmentation Pipeline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13760" y="3940088"/>
            <a:ext cx="9841622" cy="174587"/>
            <a:chOff x="0" y="0"/>
            <a:chExt cx="5066289" cy="89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66289" cy="89874"/>
            </a:xfrm>
            <a:custGeom>
              <a:avLst/>
              <a:gdLst/>
              <a:ahLst/>
              <a:cxnLst/>
              <a:rect r="r" b="b" t="t" l="l"/>
              <a:pathLst>
                <a:path h="89874" w="5066289">
                  <a:moveTo>
                    <a:pt x="0" y="0"/>
                  </a:moveTo>
                  <a:lnTo>
                    <a:pt x="5066289" y="0"/>
                  </a:lnTo>
                  <a:lnTo>
                    <a:pt x="5066289" y="89874"/>
                  </a:lnTo>
                  <a:lnTo>
                    <a:pt x="0" y="89874"/>
                  </a:lnTo>
                  <a:close/>
                </a:path>
              </a:pathLst>
            </a:custGeom>
            <a:solidFill>
              <a:srgbClr val="D44B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66289" cy="127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393566" y="4564032"/>
            <a:ext cx="4932164" cy="5152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ROI extraction</a:t>
            </a:r>
          </a:p>
          <a:p>
            <a:pPr algn="ctr">
              <a:lnSpc>
                <a:spcPts val="4510"/>
              </a:lnSpc>
              <a:spcBef>
                <a:spcPct val="0"/>
              </a:spcBef>
            </a:pPr>
          </a:p>
          <a:p>
            <a:pPr algn="ctr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Vessel removal</a:t>
            </a:r>
          </a:p>
          <a:p>
            <a:pPr algn="ctr">
              <a:lnSpc>
                <a:spcPts val="4510"/>
              </a:lnSpc>
              <a:spcBef>
                <a:spcPct val="0"/>
              </a:spcBef>
            </a:pPr>
          </a:p>
          <a:p>
            <a:pPr algn="ctr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Adaptive thresholding</a:t>
            </a:r>
          </a:p>
          <a:p>
            <a:pPr algn="ctr">
              <a:lnSpc>
                <a:spcPts val="4510"/>
              </a:lnSpc>
              <a:spcBef>
                <a:spcPct val="0"/>
              </a:spcBef>
            </a:pPr>
          </a:p>
          <a:p>
            <a:pPr algn="ctr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Morphological refinement</a:t>
            </a:r>
          </a:p>
          <a:p>
            <a:pPr algn="ctr">
              <a:lnSpc>
                <a:spcPts val="4510"/>
              </a:lnSpc>
              <a:spcBef>
                <a:spcPct val="0"/>
              </a:spcBef>
            </a:pPr>
          </a:p>
          <a:p>
            <a:pPr algn="ctr">
              <a:lnSpc>
                <a:spcPts val="4510"/>
              </a:lnSpc>
              <a:spcBef>
                <a:spcPct val="0"/>
              </a:spcBef>
            </a:pPr>
            <a:r>
              <a:rPr lang="en-US" sz="30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Component selection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9918">
            <a:off x="-5320593" y="-2288134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1032337"/>
            <a:ext cx="9841622" cy="1028700"/>
            <a:chOff x="0" y="0"/>
            <a:chExt cx="13122163" cy="1371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122163" cy="1371600"/>
              <a:chOff x="0" y="0"/>
              <a:chExt cx="5066289" cy="5295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66289" cy="529556"/>
              </a:xfrm>
              <a:custGeom>
                <a:avLst/>
                <a:gdLst/>
                <a:ahLst/>
                <a:cxnLst/>
                <a:rect r="r" b="b" t="t" l="l"/>
                <a:pathLst>
                  <a:path h="529556" w="5066289">
                    <a:moveTo>
                      <a:pt x="0" y="0"/>
                    </a:moveTo>
                    <a:lnTo>
                      <a:pt x="5066289" y="0"/>
                    </a:lnTo>
                    <a:lnTo>
                      <a:pt x="5066289" y="529556"/>
                    </a:lnTo>
                    <a:lnTo>
                      <a:pt x="0" y="529556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66289" cy="5676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31222" y="46778"/>
              <a:ext cx="10176358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ROI Extraction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329962" y="4662621"/>
            <a:ext cx="14101390" cy="4530072"/>
          </a:xfrm>
          <a:custGeom>
            <a:avLst/>
            <a:gdLst/>
            <a:ahLst/>
            <a:cxnLst/>
            <a:rect r="r" b="b" t="t" l="l"/>
            <a:pathLst>
              <a:path h="4530072" w="14101390">
                <a:moveTo>
                  <a:pt x="0" y="0"/>
                </a:moveTo>
                <a:lnTo>
                  <a:pt x="14101390" y="0"/>
                </a:lnTo>
                <a:lnTo>
                  <a:pt x="14101390" y="4530071"/>
                </a:lnTo>
                <a:lnTo>
                  <a:pt x="0" y="4530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87484" y="2344692"/>
            <a:ext cx="5554414" cy="73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D44B54"/>
                </a:solidFill>
                <a:latin typeface="Poppins"/>
                <a:ea typeface="Poppins"/>
                <a:cs typeface="Poppins"/>
                <a:sym typeface="Poppins"/>
              </a:rPr>
              <a:t>Region of Interest (ROI)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9212" y="2197706"/>
            <a:ext cx="7863632" cy="217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 on 160×160 region</a:t>
            </a:r>
          </a:p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Centered at detected OD</a:t>
            </a:r>
          </a:p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noise and computation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58717" y="9328176"/>
            <a:ext cx="9123611" cy="73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8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 the problem to a small region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9918">
            <a:off x="-5320593" y="-2288134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1032337"/>
            <a:ext cx="9841622" cy="1028700"/>
            <a:chOff x="0" y="0"/>
            <a:chExt cx="13122163" cy="1371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122163" cy="1371600"/>
              <a:chOff x="0" y="0"/>
              <a:chExt cx="5066289" cy="5295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66289" cy="529556"/>
              </a:xfrm>
              <a:custGeom>
                <a:avLst/>
                <a:gdLst/>
                <a:ahLst/>
                <a:cxnLst/>
                <a:rect r="r" b="b" t="t" l="l"/>
                <a:pathLst>
                  <a:path h="529556" w="5066289">
                    <a:moveTo>
                      <a:pt x="0" y="0"/>
                    </a:moveTo>
                    <a:lnTo>
                      <a:pt x="5066289" y="0"/>
                    </a:lnTo>
                    <a:lnTo>
                      <a:pt x="5066289" y="529556"/>
                    </a:lnTo>
                    <a:lnTo>
                      <a:pt x="0" y="529556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66289" cy="5676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531222" y="46778"/>
              <a:ext cx="10176358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Vessel Removal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4886662"/>
            <a:ext cx="15500739" cy="5134620"/>
          </a:xfrm>
          <a:custGeom>
            <a:avLst/>
            <a:gdLst/>
            <a:ahLst/>
            <a:cxnLst/>
            <a:rect r="r" b="b" t="t" l="l"/>
            <a:pathLst>
              <a:path h="5134620" w="15500739">
                <a:moveTo>
                  <a:pt x="0" y="0"/>
                </a:moveTo>
                <a:lnTo>
                  <a:pt x="15500739" y="0"/>
                </a:lnTo>
                <a:lnTo>
                  <a:pt x="15500739" y="5134620"/>
                </a:lnTo>
                <a:lnTo>
                  <a:pt x="0" y="5134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42001" y="2445224"/>
            <a:ext cx="7024390" cy="217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Vessels create dark artifacts</a:t>
            </a:r>
          </a:p>
          <a:p>
            <a:pPr algn="ctr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Mask + inpainting used</a:t>
            </a:r>
          </a:p>
          <a:p>
            <a:pPr algn="ctr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Produces smooth disc region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9918">
            <a:off x="-5320593" y="-2288134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1032337"/>
            <a:ext cx="11391083" cy="1028700"/>
            <a:chOff x="0" y="0"/>
            <a:chExt cx="15188110" cy="1371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5188110" cy="1371600"/>
              <a:chOff x="0" y="0"/>
              <a:chExt cx="5863923" cy="5295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863923" cy="529556"/>
              </a:xfrm>
              <a:custGeom>
                <a:avLst/>
                <a:gdLst/>
                <a:ahLst/>
                <a:cxnLst/>
                <a:rect r="r" b="b" t="t" l="l"/>
                <a:pathLst>
                  <a:path h="529556" w="5863923">
                    <a:moveTo>
                      <a:pt x="0" y="0"/>
                    </a:moveTo>
                    <a:lnTo>
                      <a:pt x="5863923" y="0"/>
                    </a:lnTo>
                    <a:lnTo>
                      <a:pt x="5863923" y="529556"/>
                    </a:lnTo>
                    <a:lnTo>
                      <a:pt x="0" y="529556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863923" cy="5676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772297" y="46778"/>
              <a:ext cx="11778519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Adaptive Thresholding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47190" y="4933165"/>
            <a:ext cx="13327496" cy="4797898"/>
          </a:xfrm>
          <a:custGeom>
            <a:avLst/>
            <a:gdLst/>
            <a:ahLst/>
            <a:cxnLst/>
            <a:rect r="r" b="b" t="t" l="l"/>
            <a:pathLst>
              <a:path h="4797898" w="13327496">
                <a:moveTo>
                  <a:pt x="0" y="0"/>
                </a:moveTo>
                <a:lnTo>
                  <a:pt x="13327495" y="0"/>
                </a:lnTo>
                <a:lnTo>
                  <a:pt x="13327495" y="4797898"/>
                </a:lnTo>
                <a:lnTo>
                  <a:pt x="0" y="4797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28266" y="2538992"/>
            <a:ext cx="7440364" cy="217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Otsu + Percentile</a:t>
            </a:r>
          </a:p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Robust to intensity variations</a:t>
            </a:r>
          </a:p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Final mask from max threshold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9918">
            <a:off x="-5320593" y="-2288134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880" y="1032337"/>
            <a:ext cx="10708697" cy="1962150"/>
            <a:chOff x="0" y="0"/>
            <a:chExt cx="14278262" cy="26162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470894" cy="2616200"/>
              <a:chOff x="0" y="0"/>
              <a:chExt cx="4814843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814843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4814843">
                    <a:moveTo>
                      <a:pt x="0" y="0"/>
                    </a:moveTo>
                    <a:lnTo>
                      <a:pt x="4814843" y="0"/>
                    </a:lnTo>
                    <a:lnTo>
                      <a:pt x="4814843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814843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51704" y="-104775"/>
              <a:ext cx="13726559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Mask Refinement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777017" y="2842087"/>
            <a:ext cx="7219057" cy="217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301" indent="-410651" lvl="1">
              <a:lnSpc>
                <a:spcPts val="5706"/>
              </a:lnSpc>
              <a:buFont typeface="Arial"/>
              <a:buChar char="•"/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Close → fill gaps</a:t>
            </a:r>
          </a:p>
          <a:p>
            <a:pPr algn="l" marL="821301" indent="-410651" lvl="1">
              <a:lnSpc>
                <a:spcPts val="5706"/>
              </a:lnSpc>
              <a:buFont typeface="Arial"/>
              <a:buChar char="•"/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Fill holes</a:t>
            </a:r>
          </a:p>
          <a:p>
            <a:pPr algn="l" marL="821301" indent="-410651" lvl="1">
              <a:lnSpc>
                <a:spcPts val="5706"/>
              </a:lnSpc>
              <a:buFont typeface="Arial"/>
              <a:buChar char="•"/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Open → smooth boundary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9918">
            <a:off x="-5320593" y="-2288134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8700"/>
            <a:ext cx="10708697" cy="1962150"/>
            <a:chOff x="0" y="0"/>
            <a:chExt cx="14278262" cy="26162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470894" cy="2616200"/>
              <a:chOff x="0" y="0"/>
              <a:chExt cx="4814843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814843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4814843">
                    <a:moveTo>
                      <a:pt x="0" y="0"/>
                    </a:moveTo>
                    <a:lnTo>
                      <a:pt x="4814843" y="0"/>
                    </a:lnTo>
                    <a:lnTo>
                      <a:pt x="4814843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814843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51704" y="-104775"/>
              <a:ext cx="13726559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Final Component Selection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4561311"/>
            <a:ext cx="15050448" cy="5079526"/>
          </a:xfrm>
          <a:custGeom>
            <a:avLst/>
            <a:gdLst/>
            <a:ahLst/>
            <a:cxnLst/>
            <a:rect r="r" b="b" t="t" l="l"/>
            <a:pathLst>
              <a:path h="5079526" w="15050448">
                <a:moveTo>
                  <a:pt x="0" y="0"/>
                </a:moveTo>
                <a:lnTo>
                  <a:pt x="15050448" y="0"/>
                </a:lnTo>
                <a:lnTo>
                  <a:pt x="15050448" y="5079526"/>
                </a:lnTo>
                <a:lnTo>
                  <a:pt x="0" y="507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515253" y="2450081"/>
            <a:ext cx="6451550" cy="217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Multiple regions may exist</a:t>
            </a:r>
          </a:p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Select closest to OD center</a:t>
            </a:r>
          </a:p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sz="380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Final disc mask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9918">
            <a:off x="-5320593" y="-2288134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3580" y="1028700"/>
            <a:ext cx="10294919" cy="1503859"/>
            <a:chOff x="0" y="0"/>
            <a:chExt cx="13726559" cy="200514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1281461" y="0"/>
              <a:ext cx="10902912" cy="2005145"/>
              <a:chOff x="0" y="0"/>
              <a:chExt cx="4209466" cy="77415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09466" cy="774159"/>
              </a:xfrm>
              <a:custGeom>
                <a:avLst/>
                <a:gdLst/>
                <a:ahLst/>
                <a:cxnLst/>
                <a:rect r="r" b="b" t="t" l="l"/>
                <a:pathLst>
                  <a:path h="774159" w="4209466">
                    <a:moveTo>
                      <a:pt x="0" y="0"/>
                    </a:moveTo>
                    <a:lnTo>
                      <a:pt x="4209466" y="0"/>
                    </a:lnTo>
                    <a:lnTo>
                      <a:pt x="4209466" y="774159"/>
                    </a:lnTo>
                    <a:lnTo>
                      <a:pt x="0" y="774159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09466" cy="8122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215301"/>
              <a:ext cx="13726559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Final Result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43580" y="2593608"/>
            <a:ext cx="16201213" cy="4860364"/>
          </a:xfrm>
          <a:custGeom>
            <a:avLst/>
            <a:gdLst/>
            <a:ahLst/>
            <a:cxnLst/>
            <a:rect r="r" b="b" t="t" l="l"/>
            <a:pathLst>
              <a:path h="4860364" w="16201213">
                <a:moveTo>
                  <a:pt x="0" y="0"/>
                </a:moveTo>
                <a:lnTo>
                  <a:pt x="16201213" y="0"/>
                </a:lnTo>
                <a:lnTo>
                  <a:pt x="16201213" y="4860364"/>
                </a:lnTo>
                <a:lnTo>
                  <a:pt x="0" y="486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8917862" y="-1258054"/>
            <a:ext cx="11455832" cy="4573507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</p:grpSp>
      <p:grpSp>
        <p:nvGrpSpPr>
          <p:cNvPr name="Group 4" id="4"/>
          <p:cNvGrpSpPr/>
          <p:nvPr/>
        </p:nvGrpSpPr>
        <p:grpSpPr>
          <a:xfrm rot="402588">
            <a:off x="-40334" y="-2166249"/>
            <a:ext cx="18368668" cy="5269511"/>
            <a:chOff x="0" y="0"/>
            <a:chExt cx="66560174" cy="19094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560173" cy="19094450"/>
            </a:xfrm>
            <a:custGeom>
              <a:avLst/>
              <a:gdLst/>
              <a:ahLst/>
              <a:cxnLst/>
              <a:rect r="r" b="b" t="t" l="l"/>
              <a:pathLst>
                <a:path h="19094450" w="66560173">
                  <a:moveTo>
                    <a:pt x="66560173" y="16098520"/>
                  </a:moveTo>
                  <a:cubicBezTo>
                    <a:pt x="41514430" y="18167350"/>
                    <a:pt x="15360763" y="18900139"/>
                    <a:pt x="0" y="19094450"/>
                  </a:cubicBezTo>
                  <a:lnTo>
                    <a:pt x="0" y="0"/>
                  </a:lnTo>
                  <a:lnTo>
                    <a:pt x="66560173" y="0"/>
                  </a:lnTo>
                </a:path>
              </a:pathLst>
            </a:custGeom>
            <a:solidFill>
              <a:srgbClr val="84AAD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503097" y="3099837"/>
            <a:ext cx="6062949" cy="6356958"/>
          </a:xfrm>
          <a:custGeom>
            <a:avLst/>
            <a:gdLst/>
            <a:ahLst/>
            <a:cxnLst/>
            <a:rect r="r" b="b" t="t" l="l"/>
            <a:pathLst>
              <a:path h="6356958" w="6062949">
                <a:moveTo>
                  <a:pt x="0" y="0"/>
                </a:moveTo>
                <a:lnTo>
                  <a:pt x="6062949" y="0"/>
                </a:lnTo>
                <a:lnTo>
                  <a:pt x="606294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69383" y="453002"/>
            <a:ext cx="9349234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Fovea Detection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6223980" y="-3011448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E1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0263" y="1552461"/>
            <a:ext cx="6619794" cy="1632806"/>
            <a:chOff x="0" y="0"/>
            <a:chExt cx="8826392" cy="217707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826392" cy="2177074"/>
              <a:chOff x="0" y="0"/>
              <a:chExt cx="4095108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95108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4095108">
                    <a:moveTo>
                      <a:pt x="0" y="0"/>
                    </a:moveTo>
                    <a:lnTo>
                      <a:pt x="4095108" y="0"/>
                    </a:lnTo>
                    <a:lnTo>
                      <a:pt x="4095108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286BC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095108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29950" y="40390"/>
              <a:ext cx="6844948" cy="2010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58"/>
                </a:lnSpc>
              </a:pPr>
              <a:r>
                <a:rPr lang="en-US" sz="4327" b="true">
                  <a:solidFill>
                    <a:srgbClr val="E8E1DB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Anatomical Constraints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742849" y="2725312"/>
            <a:ext cx="7140985" cy="6532988"/>
          </a:xfrm>
          <a:custGeom>
            <a:avLst/>
            <a:gdLst/>
            <a:ahLst/>
            <a:cxnLst/>
            <a:rect r="r" b="b" t="t" l="l"/>
            <a:pathLst>
              <a:path h="6532988" w="7140985">
                <a:moveTo>
                  <a:pt x="0" y="0"/>
                </a:moveTo>
                <a:lnTo>
                  <a:pt x="7140985" y="0"/>
                </a:lnTo>
                <a:lnTo>
                  <a:pt x="7140985" y="6532988"/>
                </a:lnTo>
                <a:lnTo>
                  <a:pt x="0" y="6532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0263" y="3209544"/>
            <a:ext cx="7509020" cy="246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681" indent="-351341" lvl="1">
              <a:lnSpc>
                <a:spcPts val="4881"/>
              </a:lnSpc>
              <a:spcBef>
                <a:spcPct val="0"/>
              </a:spcBef>
              <a:buFont typeface="Arial"/>
              <a:buChar char="•"/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152 p</a:t>
            </a: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ixels horizontal from OD</a:t>
            </a:r>
          </a:p>
          <a:p>
            <a:pPr algn="l" marL="702681" indent="-351341" lvl="1">
              <a:lnSpc>
                <a:spcPts val="4881"/>
              </a:lnSpc>
              <a:spcBef>
                <a:spcPct val="0"/>
              </a:spcBef>
              <a:buFont typeface="Arial"/>
              <a:buChar char="•"/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25 pixels below OD</a:t>
            </a:r>
          </a:p>
          <a:p>
            <a:pPr algn="l" marL="702681" indent="-351341" lvl="1">
              <a:lnSpc>
                <a:spcPts val="4881"/>
              </a:lnSpc>
              <a:spcBef>
                <a:spcPct val="0"/>
              </a:spcBef>
              <a:buFont typeface="Arial"/>
              <a:buChar char="•"/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Always on temporal side</a:t>
            </a:r>
          </a:p>
          <a:p>
            <a:pPr algn="l">
              <a:lnSpc>
                <a:spcPts val="4881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90263" y="5436661"/>
            <a:ext cx="6619794" cy="856034"/>
            <a:chOff x="0" y="0"/>
            <a:chExt cx="8826392" cy="114137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826392" cy="1141379"/>
              <a:chOff x="0" y="0"/>
              <a:chExt cx="4095108" cy="52955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95108" cy="529556"/>
              </a:xfrm>
              <a:custGeom>
                <a:avLst/>
                <a:gdLst/>
                <a:ahLst/>
                <a:cxnLst/>
                <a:rect r="r" b="b" t="t" l="l"/>
                <a:pathLst>
                  <a:path h="529556" w="4095108">
                    <a:moveTo>
                      <a:pt x="0" y="0"/>
                    </a:moveTo>
                    <a:lnTo>
                      <a:pt x="4095108" y="0"/>
                    </a:lnTo>
                    <a:lnTo>
                      <a:pt x="4095108" y="529556"/>
                    </a:lnTo>
                    <a:lnTo>
                      <a:pt x="0" y="529556"/>
                    </a:lnTo>
                    <a:close/>
                  </a:path>
                </a:pathLst>
              </a:custGeom>
              <a:solidFill>
                <a:srgbClr val="286BC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095108" cy="5676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029950" y="40390"/>
              <a:ext cx="6844948" cy="974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58"/>
                </a:lnSpc>
              </a:pPr>
              <a:r>
                <a:rPr lang="en-US" sz="4327" b="true">
                  <a:solidFill>
                    <a:srgbClr val="E8E1DB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Search Window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2205" y="6473164"/>
            <a:ext cx="7185137" cy="296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2373" indent="-336186" lvl="1">
              <a:lnSpc>
                <a:spcPts val="4671"/>
              </a:lnSpc>
              <a:spcBef>
                <a:spcPct val="0"/>
              </a:spcBef>
              <a:buFont typeface="Arial"/>
              <a:buChar char="•"/>
            </a:pPr>
            <a:r>
              <a:rPr lang="en-US" sz="311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140×140 w</a:t>
            </a:r>
            <a:r>
              <a:rPr lang="en-US" sz="311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indow around expected position</a:t>
            </a:r>
          </a:p>
          <a:p>
            <a:pPr algn="l" marL="672373" indent="-336186" lvl="1">
              <a:lnSpc>
                <a:spcPts val="4671"/>
              </a:lnSpc>
              <a:spcBef>
                <a:spcPct val="0"/>
              </a:spcBef>
              <a:buFont typeface="Arial"/>
              <a:buChar char="•"/>
            </a:pPr>
            <a:r>
              <a:rPr lang="en-US" sz="311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Reduces false detections</a:t>
            </a:r>
          </a:p>
          <a:p>
            <a:pPr algn="l" marL="672373" indent="-336186" lvl="1">
              <a:lnSpc>
                <a:spcPts val="4671"/>
              </a:lnSpc>
              <a:spcBef>
                <a:spcPct val="0"/>
              </a:spcBef>
              <a:buFont typeface="Arial"/>
              <a:buChar char="•"/>
            </a:pPr>
            <a:r>
              <a:rPr lang="en-US" sz="311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Focu</a:t>
            </a:r>
            <a:r>
              <a:rPr lang="en-US" sz="311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sed search</a:t>
            </a:r>
          </a:p>
          <a:p>
            <a:pPr algn="l">
              <a:lnSpc>
                <a:spcPts val="46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6223980" y="-3011448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E1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0263" y="1552461"/>
            <a:ext cx="6619794" cy="1632806"/>
            <a:chOff x="0" y="0"/>
            <a:chExt cx="8826392" cy="217707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826392" cy="2177074"/>
              <a:chOff x="0" y="0"/>
              <a:chExt cx="4095108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95108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4095108">
                    <a:moveTo>
                      <a:pt x="0" y="0"/>
                    </a:moveTo>
                    <a:lnTo>
                      <a:pt x="4095108" y="0"/>
                    </a:lnTo>
                    <a:lnTo>
                      <a:pt x="4095108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286BC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095108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29950" y="40390"/>
              <a:ext cx="6844948" cy="2010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58"/>
                </a:lnSpc>
              </a:pPr>
              <a:r>
                <a:rPr lang="en-US" sz="4327" b="true">
                  <a:solidFill>
                    <a:srgbClr val="E8E1DB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Anatomical Constraints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20149" y="5277408"/>
            <a:ext cx="14928240" cy="4680450"/>
          </a:xfrm>
          <a:custGeom>
            <a:avLst/>
            <a:gdLst/>
            <a:ahLst/>
            <a:cxnLst/>
            <a:rect r="r" b="b" t="t" l="l"/>
            <a:pathLst>
              <a:path h="4680450" w="14928240">
                <a:moveTo>
                  <a:pt x="0" y="0"/>
                </a:moveTo>
                <a:lnTo>
                  <a:pt x="14928240" y="0"/>
                </a:lnTo>
                <a:lnTo>
                  <a:pt x="14928240" y="4680449"/>
                </a:lnTo>
                <a:lnTo>
                  <a:pt x="0" y="4680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61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5608168" y="7365426"/>
            <a:ext cx="1247941" cy="1027716"/>
            <a:chOff x="0" y="0"/>
            <a:chExt cx="64770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75249" y="3296838"/>
            <a:ext cx="7509020" cy="246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681" indent="-351341" lvl="1">
              <a:lnSpc>
                <a:spcPts val="4881"/>
              </a:lnSpc>
              <a:spcBef>
                <a:spcPct val="0"/>
              </a:spcBef>
              <a:buFont typeface="Arial"/>
              <a:buChar char="•"/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Fovea = dark</a:t>
            </a: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 region</a:t>
            </a:r>
          </a:p>
          <a:p>
            <a:pPr algn="l" marL="702681" indent="-351341" lvl="1">
              <a:lnSpc>
                <a:spcPts val="4881"/>
              </a:lnSpc>
              <a:spcBef>
                <a:spcPct val="0"/>
              </a:spcBef>
              <a:buFont typeface="Arial"/>
              <a:buChar char="•"/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Image</a:t>
            </a: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inverted</a:t>
            </a:r>
          </a:p>
          <a:p>
            <a:pPr algn="l" marL="702681" indent="-351341" lvl="1">
              <a:lnSpc>
                <a:spcPts val="4881"/>
              </a:lnSpc>
              <a:spcBef>
                <a:spcPct val="0"/>
              </a:spcBef>
              <a:buFont typeface="Arial"/>
              <a:buChar char="•"/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aussian smoothing applied</a:t>
            </a:r>
          </a:p>
          <a:p>
            <a:pPr algn="l">
              <a:lnSpc>
                <a:spcPts val="4881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-10800000">
            <a:off x="10867241" y="7365426"/>
            <a:ext cx="1247941" cy="1027716"/>
            <a:chOff x="0" y="0"/>
            <a:chExt cx="64770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6"/>
                </a:lnSpc>
              </a:pP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70700">
            <a:off x="6223980" y="-3011448"/>
            <a:ext cx="18405451" cy="7348001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E1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0263" y="1552461"/>
            <a:ext cx="6619794" cy="856034"/>
            <a:chOff x="0" y="0"/>
            <a:chExt cx="8826392" cy="114137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826392" cy="1141379"/>
              <a:chOff x="0" y="0"/>
              <a:chExt cx="4095108" cy="5295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95108" cy="529556"/>
              </a:xfrm>
              <a:custGeom>
                <a:avLst/>
                <a:gdLst/>
                <a:ahLst/>
                <a:cxnLst/>
                <a:rect r="r" b="b" t="t" l="l"/>
                <a:pathLst>
                  <a:path h="529556" w="4095108">
                    <a:moveTo>
                      <a:pt x="0" y="0"/>
                    </a:moveTo>
                    <a:lnTo>
                      <a:pt x="4095108" y="0"/>
                    </a:lnTo>
                    <a:lnTo>
                      <a:pt x="4095108" y="529556"/>
                    </a:lnTo>
                    <a:lnTo>
                      <a:pt x="0" y="529556"/>
                    </a:lnTo>
                    <a:close/>
                  </a:path>
                </a:pathLst>
              </a:custGeom>
              <a:solidFill>
                <a:srgbClr val="286BC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095108" cy="5676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29950" y="40390"/>
              <a:ext cx="6844948" cy="974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58"/>
                </a:lnSpc>
              </a:pPr>
              <a:r>
                <a:rPr lang="en-US" sz="4327" b="true">
                  <a:solidFill>
                    <a:srgbClr val="E8E1DB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Distance Prior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136223" y="5143500"/>
            <a:ext cx="9389533" cy="4771730"/>
          </a:xfrm>
          <a:custGeom>
            <a:avLst/>
            <a:gdLst/>
            <a:ahLst/>
            <a:cxnLst/>
            <a:rect r="r" b="b" t="t" l="l"/>
            <a:pathLst>
              <a:path h="4771730" w="9389533">
                <a:moveTo>
                  <a:pt x="0" y="0"/>
                </a:moveTo>
                <a:lnTo>
                  <a:pt x="9389534" y="0"/>
                </a:lnTo>
                <a:lnTo>
                  <a:pt x="9389534" y="4771730"/>
                </a:lnTo>
                <a:lnTo>
                  <a:pt x="0" y="4771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794678"/>
            <a:ext cx="10268727" cy="184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681" indent="-351341" lvl="1">
              <a:lnSpc>
                <a:spcPts val="4881"/>
              </a:lnSpc>
              <a:buFont typeface="Arial"/>
              <a:buChar char="•"/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Gaussian prior centered at expected position</a:t>
            </a:r>
          </a:p>
          <a:p>
            <a:pPr algn="l" marL="702681" indent="-351341" lvl="1">
              <a:lnSpc>
                <a:spcPts val="4881"/>
              </a:lnSpc>
              <a:spcBef>
                <a:spcPct val="0"/>
              </a:spcBef>
              <a:buFont typeface="Arial"/>
              <a:buChar char="•"/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Penaliz</a:t>
            </a: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 far regions</a:t>
            </a:r>
          </a:p>
          <a:p>
            <a:pPr algn="l" marL="702681" indent="-351341" lvl="1">
              <a:lnSpc>
                <a:spcPts val="4881"/>
              </a:lnSpc>
              <a:spcBef>
                <a:spcPct val="0"/>
              </a:spcBef>
              <a:buFont typeface="Arial"/>
              <a:buChar char="•"/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ncodes anatomical knowledge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49713">
            <a:off x="-5129172" y="-2508753"/>
            <a:ext cx="22108086" cy="8826203"/>
            <a:chOff x="0" y="0"/>
            <a:chExt cx="1336073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73" cy="533400"/>
            </a:xfrm>
            <a:custGeom>
              <a:avLst/>
              <a:gdLst/>
              <a:ahLst/>
              <a:cxnLst/>
              <a:rect r="r" b="b" t="t" l="l"/>
              <a:pathLst>
                <a:path h="533400" w="1336073">
                  <a:moveTo>
                    <a:pt x="758593" y="0"/>
                  </a:moveTo>
                  <a:cubicBezTo>
                    <a:pt x="773248" y="0"/>
                    <a:pt x="787991" y="0"/>
                    <a:pt x="802617" y="0"/>
                  </a:cubicBezTo>
                  <a:cubicBezTo>
                    <a:pt x="919225" y="8909"/>
                    <a:pt x="992099" y="38564"/>
                    <a:pt x="1025292" y="87090"/>
                  </a:cubicBezTo>
                  <a:cubicBezTo>
                    <a:pt x="1219697" y="80618"/>
                    <a:pt x="1351262" y="172373"/>
                    <a:pt x="1274902" y="262426"/>
                  </a:cubicBezTo>
                  <a:cubicBezTo>
                    <a:pt x="1303546" y="281349"/>
                    <a:pt x="1327443" y="302517"/>
                    <a:pt x="1336073" y="330926"/>
                  </a:cubicBezTo>
                  <a:cubicBezTo>
                    <a:pt x="1336073" y="339065"/>
                    <a:pt x="1336073" y="347184"/>
                    <a:pt x="1336073" y="355321"/>
                  </a:cubicBezTo>
                  <a:cubicBezTo>
                    <a:pt x="1310354" y="427627"/>
                    <a:pt x="1199683" y="476486"/>
                    <a:pt x="1017992" y="463333"/>
                  </a:cubicBezTo>
                  <a:cubicBezTo>
                    <a:pt x="971244" y="500459"/>
                    <a:pt x="888061" y="537638"/>
                    <a:pt x="758620" y="533008"/>
                  </a:cubicBezTo>
                  <a:cubicBezTo>
                    <a:pt x="691714" y="530570"/>
                    <a:pt x="645169" y="516453"/>
                    <a:pt x="604417" y="499302"/>
                  </a:cubicBezTo>
                  <a:cubicBezTo>
                    <a:pt x="561493" y="513559"/>
                    <a:pt x="515006" y="524747"/>
                    <a:pt x="447839" y="524871"/>
                  </a:cubicBezTo>
                  <a:cubicBezTo>
                    <a:pt x="292448" y="525082"/>
                    <a:pt x="188497" y="470155"/>
                    <a:pt x="185977" y="394815"/>
                  </a:cubicBezTo>
                  <a:cubicBezTo>
                    <a:pt x="86080" y="377190"/>
                    <a:pt x="18421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20333" y="207816"/>
                    <a:pt x="84314" y="172776"/>
                    <a:pt x="190843" y="157922"/>
                  </a:cubicBezTo>
                  <a:cubicBezTo>
                    <a:pt x="184442" y="63818"/>
                    <a:pt x="397530" y="5016"/>
                    <a:pt x="572587" y="46474"/>
                  </a:cubicBezTo>
                  <a:cubicBezTo>
                    <a:pt x="614266" y="25973"/>
                    <a:pt x="673235" y="3613"/>
                    <a:pt x="758593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3383" y="3367439"/>
            <a:ext cx="10708697" cy="1962150"/>
            <a:chOff x="0" y="0"/>
            <a:chExt cx="14278262" cy="26162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470894" cy="2616200"/>
              <a:chOff x="0" y="0"/>
              <a:chExt cx="4814843" cy="10100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814843" cy="1010079"/>
              </a:xfrm>
              <a:custGeom>
                <a:avLst/>
                <a:gdLst/>
                <a:ahLst/>
                <a:cxnLst/>
                <a:rect r="r" b="b" t="t" l="l"/>
                <a:pathLst>
                  <a:path h="1010079" w="4814843">
                    <a:moveTo>
                      <a:pt x="0" y="0"/>
                    </a:moveTo>
                    <a:lnTo>
                      <a:pt x="4814843" y="0"/>
                    </a:lnTo>
                    <a:lnTo>
                      <a:pt x="4814843" y="1010079"/>
                    </a:lnTo>
                    <a:lnTo>
                      <a:pt x="0" y="1010079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814843" cy="1048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51704" y="-104775"/>
              <a:ext cx="13726559" cy="1173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004AAD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Score Fusion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878926" y="2446001"/>
            <a:ext cx="4380374" cy="5007971"/>
          </a:xfrm>
          <a:custGeom>
            <a:avLst/>
            <a:gdLst/>
            <a:ahLst/>
            <a:cxnLst/>
            <a:rect r="r" b="b" t="t" l="l"/>
            <a:pathLst>
              <a:path h="5007971" w="4380374">
                <a:moveTo>
                  <a:pt x="0" y="0"/>
                </a:moveTo>
                <a:lnTo>
                  <a:pt x="4380374" y="0"/>
                </a:lnTo>
                <a:lnTo>
                  <a:pt x="4380374" y="5007971"/>
                </a:lnTo>
                <a:lnTo>
                  <a:pt x="0" y="5007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33383" y="4234214"/>
            <a:ext cx="10268727" cy="60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  <a:spcBef>
                <a:spcPct val="0"/>
              </a:spcBef>
            </a:pPr>
            <a:r>
              <a:rPr lang="en-US" sz="325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Combine Darkness Map and Distance Prior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4098" y="5346229"/>
            <a:ext cx="10485686" cy="6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1"/>
              </a:lnSpc>
              <a:spcBef>
                <a:spcPct val="0"/>
              </a:spcBef>
            </a:pPr>
            <a:r>
              <a:rPr lang="en-US" sz="3254">
                <a:solidFill>
                  <a:srgbClr val="D44B54"/>
                </a:solidFill>
                <a:latin typeface="Poppins"/>
                <a:ea typeface="Poppins"/>
                <a:cs typeface="Poppins"/>
                <a:sym typeface="Poppins"/>
              </a:rPr>
              <a:t>foveaScore = 0.45 * darkMap + 0.55 * distancePrior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854916"/>
            <a:chOff x="0" y="0"/>
            <a:chExt cx="4816593" cy="751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1912"/>
            </a:xfrm>
            <a:custGeom>
              <a:avLst/>
              <a:gdLst/>
              <a:ahLst/>
              <a:cxnLst/>
              <a:rect r="r" b="b" t="t" l="l"/>
              <a:pathLst>
                <a:path h="7519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1912"/>
                  </a:lnTo>
                  <a:lnTo>
                    <a:pt x="0" y="751912"/>
                  </a:lnTo>
                  <a:close/>
                </a:path>
              </a:pathLst>
            </a:custGeom>
            <a:solidFill>
              <a:srgbClr val="E8F2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16593" cy="83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46863" y="4543536"/>
            <a:ext cx="7594498" cy="759449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334388" lIns="334388" bIns="334388" rIns="334388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05865" y="1028700"/>
            <a:ext cx="8729066" cy="8695101"/>
          </a:xfrm>
          <a:custGeom>
            <a:avLst/>
            <a:gdLst/>
            <a:ahLst/>
            <a:cxnLst/>
            <a:rect r="r" b="b" t="t" l="l"/>
            <a:pathLst>
              <a:path h="8695101" w="8729066">
                <a:moveTo>
                  <a:pt x="0" y="0"/>
                </a:moveTo>
                <a:lnTo>
                  <a:pt x="8729066" y="0"/>
                </a:lnTo>
                <a:lnTo>
                  <a:pt x="8729066" y="8695101"/>
                </a:lnTo>
                <a:lnTo>
                  <a:pt x="0" y="8695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09204" y="-54051"/>
            <a:ext cx="8792111" cy="10287000"/>
            <a:chOff x="0" y="0"/>
            <a:chExt cx="11722815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81372" y="0"/>
              <a:ext cx="8841443" cy="13716000"/>
              <a:chOff x="0" y="0"/>
              <a:chExt cx="409326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09326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093260">
                    <a:moveTo>
                      <a:pt x="4093260" y="0"/>
                    </a:moveTo>
                    <a:lnTo>
                      <a:pt x="2122220" y="6350000"/>
                    </a:lnTo>
                    <a:lnTo>
                      <a:pt x="2065853" y="6350000"/>
                    </a:lnTo>
                    <a:lnTo>
                      <a:pt x="2065853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65853" y="0"/>
                    </a:lnTo>
                    <a:lnTo>
                      <a:pt x="2065853" y="0"/>
                    </a:lnTo>
                    <a:lnTo>
                      <a:pt x="4093260" y="0"/>
                    </a:lnTo>
                    <a:close/>
                  </a:path>
                </a:pathLst>
              </a:custGeom>
              <a:solidFill>
                <a:srgbClr val="E8F2FC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72067"/>
              <a:ext cx="9766327" cy="13643933"/>
              <a:chOff x="0" y="0"/>
              <a:chExt cx="454533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54533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545330">
                    <a:moveTo>
                      <a:pt x="4545330" y="0"/>
                    </a:moveTo>
                    <a:lnTo>
                      <a:pt x="2574290" y="6350000"/>
                    </a:lnTo>
                    <a:lnTo>
                      <a:pt x="2474849" y="6350000"/>
                    </a:lnTo>
                    <a:lnTo>
                      <a:pt x="2078101" y="6350000"/>
                    </a:lnTo>
                    <a:lnTo>
                      <a:pt x="0" y="6350000"/>
                    </a:lnTo>
                    <a:lnTo>
                      <a:pt x="1971040" y="0"/>
                    </a:lnTo>
                    <a:lnTo>
                      <a:pt x="2078101" y="0"/>
                    </a:lnTo>
                    <a:lnTo>
                      <a:pt x="2474849" y="0"/>
                    </a:lnTo>
                    <a:lnTo>
                      <a:pt x="4545330" y="0"/>
                    </a:lnTo>
                    <a:close/>
                  </a:path>
                </a:pathLst>
              </a:custGeom>
              <a:solidFill>
                <a:srgbClr val="84AAD8"/>
              </a:solidFill>
            </p:spPr>
          </p:sp>
        </p:grpSp>
      </p:grpSp>
      <p:sp>
        <p:nvSpPr>
          <p:cNvPr name="TextBox 7" id="7"/>
          <p:cNvSpPr txBox="true"/>
          <p:nvPr/>
        </p:nvSpPr>
        <p:spPr>
          <a:xfrm rot="0">
            <a:off x="4307026" y="121603"/>
            <a:ext cx="9673947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Evaluation Metric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52224" y="2174798"/>
            <a:ext cx="7838957" cy="143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4035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F-score and Success Rate</a:t>
            </a:r>
          </a:p>
          <a:p>
            <a:pPr algn="l">
              <a:lnSpc>
                <a:spcPts val="565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464966" y="3315410"/>
            <a:ext cx="15587516" cy="227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  <a:spcBef>
                <a:spcPct val="0"/>
              </a:spcBef>
            </a:pPr>
            <a:r>
              <a:rPr lang="en-US" b="true" sz="3255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Localization (OD &amp; Fovea):</a:t>
            </a:r>
          </a:p>
          <a:p>
            <a:pPr algn="l">
              <a:lnSpc>
                <a:spcPts val="4557"/>
              </a:lnSpc>
              <a:spcBef>
                <a:spcPct val="0"/>
              </a:spcBef>
            </a:pPr>
            <a:r>
              <a:rPr lang="en-US" sz="3255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Error = Euclidean distance between predicted and ground truth centers</a:t>
            </a:r>
          </a:p>
          <a:p>
            <a:pPr algn="l">
              <a:lnSpc>
                <a:spcPts val="4557"/>
              </a:lnSpc>
              <a:spcBef>
                <a:spcPct val="0"/>
              </a:spcBef>
            </a:pPr>
            <a:r>
              <a:rPr lang="en-US" sz="3255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A prediction is correct if error &lt; 40 px</a:t>
            </a:r>
          </a:p>
          <a:p>
            <a:pPr algn="l">
              <a:lnSpc>
                <a:spcPts val="4557"/>
              </a:lnSpc>
              <a:spcBef>
                <a:spcPct val="0"/>
              </a:spcBef>
            </a:pPr>
            <a:r>
              <a:rPr lang="en-US" sz="3255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Success Rate = correct predictions / total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64966" y="6257823"/>
            <a:ext cx="14498099" cy="170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  <a:spcBef>
                <a:spcPct val="0"/>
              </a:spcBef>
            </a:pPr>
            <a:r>
              <a:rPr lang="en-US" b="true" sz="3255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Segmentation (OD):</a:t>
            </a:r>
          </a:p>
          <a:p>
            <a:pPr algn="l">
              <a:lnSpc>
                <a:spcPts val="4557"/>
              </a:lnSpc>
              <a:spcBef>
                <a:spcPct val="0"/>
              </a:spcBef>
            </a:pPr>
            <a:r>
              <a:rPr lang="en-US" sz="3255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Dice coefficient used</a:t>
            </a:r>
          </a:p>
          <a:p>
            <a:pPr algn="l">
              <a:lnSpc>
                <a:spcPts val="4557"/>
              </a:lnSpc>
              <a:spcBef>
                <a:spcPct val="0"/>
              </a:spcBef>
            </a:pPr>
            <a:r>
              <a:rPr lang="en-US" sz="3255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Measures overlap between prediction and ground truth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854916"/>
            <a:chOff x="0" y="0"/>
            <a:chExt cx="4816593" cy="751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1912"/>
            </a:xfrm>
            <a:custGeom>
              <a:avLst/>
              <a:gdLst/>
              <a:ahLst/>
              <a:cxnLst/>
              <a:rect r="r" b="b" t="t" l="l"/>
              <a:pathLst>
                <a:path h="7519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1912"/>
                  </a:lnTo>
                  <a:lnTo>
                    <a:pt x="0" y="751912"/>
                  </a:lnTo>
                  <a:close/>
                </a:path>
              </a:pathLst>
            </a:custGeom>
            <a:solidFill>
              <a:srgbClr val="E8F2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16593" cy="83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46863" y="4420004"/>
            <a:ext cx="7718031" cy="77180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334388" lIns="334388" bIns="334388" rIns="334388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4420004"/>
            <a:ext cx="8652511" cy="5069586"/>
          </a:xfrm>
          <a:custGeom>
            <a:avLst/>
            <a:gdLst/>
            <a:ahLst/>
            <a:cxnLst/>
            <a:rect r="r" b="b" t="t" l="l"/>
            <a:pathLst>
              <a:path h="5069586" w="8652511">
                <a:moveTo>
                  <a:pt x="0" y="0"/>
                </a:moveTo>
                <a:lnTo>
                  <a:pt x="8652511" y="0"/>
                </a:lnTo>
                <a:lnTo>
                  <a:pt x="8652511" y="5069586"/>
                </a:lnTo>
                <a:lnTo>
                  <a:pt x="0" y="506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97" r="-9903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90045" y="520361"/>
            <a:ext cx="10907911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86BC2"/>
                </a:solidFill>
                <a:latin typeface="Arimo Bold"/>
                <a:ea typeface="Arimo Bold"/>
                <a:cs typeface="Arimo Bold"/>
                <a:sym typeface="Arimo Bold"/>
              </a:rPr>
              <a:t>Experimental Study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246572"/>
            <a:ext cx="6736734" cy="351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7"/>
              </a:lnSpc>
            </a:pPr>
            <a:r>
              <a:rPr lang="en-US" sz="3955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Te</a:t>
            </a:r>
            <a:r>
              <a:rPr lang="en-US" b="true" sz="3955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sted key parameters:</a:t>
            </a:r>
          </a:p>
          <a:p>
            <a:pPr algn="l" marL="854020" indent="-427010" lvl="1">
              <a:lnSpc>
                <a:spcPts val="5537"/>
              </a:lnSpc>
              <a:buFont typeface="Arial"/>
              <a:buChar char="•"/>
            </a:pPr>
            <a:r>
              <a:rPr lang="en-US" b="true" sz="3955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Threshold percentile</a:t>
            </a:r>
          </a:p>
          <a:p>
            <a:pPr algn="l" marL="854020" indent="-427010" lvl="1">
              <a:lnSpc>
                <a:spcPts val="5537"/>
              </a:lnSpc>
              <a:buFont typeface="Arial"/>
              <a:buChar char="•"/>
            </a:pPr>
            <a:r>
              <a:rPr lang="en-US" b="true" sz="3955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Vessel weight</a:t>
            </a:r>
          </a:p>
          <a:p>
            <a:pPr algn="l" marL="854020" indent="-427010" lvl="1">
              <a:lnSpc>
                <a:spcPts val="5537"/>
              </a:lnSpc>
              <a:buFont typeface="Arial"/>
              <a:buChar char="•"/>
            </a:pPr>
            <a:r>
              <a:rPr lang="en-US" b="true" sz="3955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Lesion weight</a:t>
            </a:r>
          </a:p>
          <a:p>
            <a:pPr algn="l">
              <a:lnSpc>
                <a:spcPts val="553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673900"/>
            <a:ext cx="7198289" cy="312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4774" indent="-317387" lvl="1">
              <a:lnSpc>
                <a:spcPts val="4116"/>
              </a:lnSpc>
              <a:buFont typeface="Arial"/>
              <a:buChar char="•"/>
            </a:pPr>
            <a:r>
              <a:rPr lang="en-US" sz="2940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Thresho</a:t>
            </a:r>
            <a:r>
              <a:rPr lang="en-US" sz="2940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ld ↑ → performance ↑ (MOST IMPORTANT)</a:t>
            </a:r>
          </a:p>
          <a:p>
            <a:pPr algn="l" marL="634774" indent="-317387" lvl="1">
              <a:lnSpc>
                <a:spcPts val="4116"/>
              </a:lnSpc>
              <a:buFont typeface="Arial"/>
              <a:buChar char="•"/>
            </a:pPr>
            <a:r>
              <a:rPr lang="en-US" sz="2940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Best value: 0.99</a:t>
            </a:r>
          </a:p>
          <a:p>
            <a:pPr algn="l" marL="634774" indent="-317387" lvl="1">
              <a:lnSpc>
                <a:spcPts val="4116"/>
              </a:lnSpc>
              <a:buFont typeface="Arial"/>
              <a:buChar char="•"/>
            </a:pPr>
            <a:r>
              <a:rPr lang="en-US" sz="2940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Vessel weight → slightly harmful</a:t>
            </a:r>
          </a:p>
          <a:p>
            <a:pPr algn="l" marL="634774" indent="-317387" lvl="1">
              <a:lnSpc>
                <a:spcPts val="4116"/>
              </a:lnSpc>
              <a:buFont typeface="Arial"/>
              <a:buChar char="•"/>
            </a:pPr>
            <a:r>
              <a:rPr lang="en-US" sz="2940">
                <a:solidFill>
                  <a:srgbClr val="286BC2"/>
                </a:solidFill>
                <a:latin typeface="Poppins"/>
                <a:ea typeface="Poppins"/>
                <a:cs typeface="Poppins"/>
                <a:sym typeface="Poppins"/>
              </a:rPr>
              <a:t>Lesion penalty → no effect</a:t>
            </a:r>
          </a:p>
          <a:p>
            <a:pPr algn="l">
              <a:lnSpc>
                <a:spcPts val="4116"/>
              </a:lnSpc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854916"/>
            <a:chOff x="0" y="0"/>
            <a:chExt cx="4816593" cy="751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1912"/>
            </a:xfrm>
            <a:custGeom>
              <a:avLst/>
              <a:gdLst/>
              <a:ahLst/>
              <a:cxnLst/>
              <a:rect r="r" b="b" t="t" l="l"/>
              <a:pathLst>
                <a:path h="7519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1912"/>
                  </a:lnTo>
                  <a:lnTo>
                    <a:pt x="0" y="751912"/>
                  </a:lnTo>
                  <a:close/>
                </a:path>
              </a:pathLst>
            </a:custGeom>
            <a:solidFill>
              <a:srgbClr val="E8F2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16593" cy="83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028" y="4861436"/>
            <a:ext cx="17435944" cy="9484715"/>
            <a:chOff x="0" y="0"/>
            <a:chExt cx="1836211" cy="998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6211" cy="998853"/>
            </a:xfrm>
            <a:custGeom>
              <a:avLst/>
              <a:gdLst/>
              <a:ahLst/>
              <a:cxnLst/>
              <a:rect r="r" b="b" t="t" l="l"/>
              <a:pathLst>
                <a:path h="998853" w="1836211">
                  <a:moveTo>
                    <a:pt x="918106" y="0"/>
                  </a:moveTo>
                  <a:cubicBezTo>
                    <a:pt x="411050" y="0"/>
                    <a:pt x="0" y="223601"/>
                    <a:pt x="0" y="499426"/>
                  </a:cubicBezTo>
                  <a:cubicBezTo>
                    <a:pt x="0" y="775252"/>
                    <a:pt x="411050" y="998853"/>
                    <a:pt x="918106" y="998853"/>
                  </a:cubicBezTo>
                  <a:cubicBezTo>
                    <a:pt x="1425161" y="998853"/>
                    <a:pt x="1836211" y="775252"/>
                    <a:pt x="1836211" y="499426"/>
                  </a:cubicBezTo>
                  <a:cubicBezTo>
                    <a:pt x="1836211" y="223601"/>
                    <a:pt x="1425161" y="0"/>
                    <a:pt x="918106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2145" y="7917"/>
              <a:ext cx="1491922" cy="897293"/>
            </a:xfrm>
            <a:prstGeom prst="rect">
              <a:avLst/>
            </a:prstGeom>
          </p:spPr>
          <p:txBody>
            <a:bodyPr anchor="ctr" rtlCol="false" tIns="334388" lIns="334388" bIns="334388" rIns="334388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41765" y="4861436"/>
            <a:ext cx="14864559" cy="5425564"/>
          </a:xfrm>
          <a:custGeom>
            <a:avLst/>
            <a:gdLst/>
            <a:ahLst/>
            <a:cxnLst/>
            <a:rect r="r" b="b" t="t" l="l"/>
            <a:pathLst>
              <a:path h="5425564" w="14864559">
                <a:moveTo>
                  <a:pt x="0" y="0"/>
                </a:moveTo>
                <a:lnTo>
                  <a:pt x="14864560" y="0"/>
                </a:lnTo>
                <a:lnTo>
                  <a:pt x="14864560" y="5425564"/>
                </a:lnTo>
                <a:lnTo>
                  <a:pt x="0" y="5425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41765" y="520361"/>
            <a:ext cx="14804470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86BC2"/>
                </a:solidFill>
                <a:latin typeface="Arimo Bold"/>
                <a:ea typeface="Arimo Bold"/>
                <a:cs typeface="Arimo Bold"/>
                <a:sym typeface="Arimo Bold"/>
              </a:rPr>
              <a:t>Performance Improvement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314" y="2778716"/>
            <a:ext cx="17039686" cy="120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3455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The improv</a:t>
            </a:r>
            <a:r>
              <a:rPr lang="en-US" b="true" sz="3455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ement comes from tuning the adaptive threshold from 0.95 to 0.99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854916"/>
            <a:chOff x="0" y="0"/>
            <a:chExt cx="4816593" cy="751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1912"/>
            </a:xfrm>
            <a:custGeom>
              <a:avLst/>
              <a:gdLst/>
              <a:ahLst/>
              <a:cxnLst/>
              <a:rect r="r" b="b" t="t" l="l"/>
              <a:pathLst>
                <a:path h="7519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1912"/>
                  </a:lnTo>
                  <a:lnTo>
                    <a:pt x="0" y="751912"/>
                  </a:lnTo>
                  <a:close/>
                </a:path>
              </a:pathLst>
            </a:custGeom>
            <a:solidFill>
              <a:srgbClr val="E8F2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16593" cy="83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028" y="6628120"/>
            <a:ext cx="17435944" cy="7718031"/>
            <a:chOff x="0" y="0"/>
            <a:chExt cx="183621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6211" cy="812800"/>
            </a:xfrm>
            <a:custGeom>
              <a:avLst/>
              <a:gdLst/>
              <a:ahLst/>
              <a:cxnLst/>
              <a:rect r="r" b="b" t="t" l="l"/>
              <a:pathLst>
                <a:path h="812800" w="1836211">
                  <a:moveTo>
                    <a:pt x="918106" y="0"/>
                  </a:moveTo>
                  <a:cubicBezTo>
                    <a:pt x="411050" y="0"/>
                    <a:pt x="0" y="181951"/>
                    <a:pt x="0" y="406400"/>
                  </a:cubicBezTo>
                  <a:cubicBezTo>
                    <a:pt x="0" y="630849"/>
                    <a:pt x="411050" y="812800"/>
                    <a:pt x="918106" y="812800"/>
                  </a:cubicBezTo>
                  <a:cubicBezTo>
                    <a:pt x="1425161" y="812800"/>
                    <a:pt x="1836211" y="630849"/>
                    <a:pt x="1836211" y="406400"/>
                  </a:cubicBezTo>
                  <a:cubicBezTo>
                    <a:pt x="1836211" y="181951"/>
                    <a:pt x="1425161" y="0"/>
                    <a:pt x="918106" y="0"/>
                  </a:cubicBezTo>
                  <a:close/>
                </a:path>
              </a:pathLst>
            </a:custGeom>
            <a:solidFill>
              <a:srgbClr val="84AA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2145" y="-9525"/>
              <a:ext cx="1491922" cy="746125"/>
            </a:xfrm>
            <a:prstGeom prst="rect">
              <a:avLst/>
            </a:prstGeom>
          </p:spPr>
          <p:txBody>
            <a:bodyPr anchor="ctr" rtlCol="false" tIns="334388" lIns="334388" bIns="334388" rIns="334388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59117" y="3117139"/>
            <a:ext cx="16000183" cy="5940068"/>
          </a:xfrm>
          <a:custGeom>
            <a:avLst/>
            <a:gdLst/>
            <a:ahLst/>
            <a:cxnLst/>
            <a:rect r="r" b="b" t="t" l="l"/>
            <a:pathLst>
              <a:path h="5940068" w="16000183">
                <a:moveTo>
                  <a:pt x="0" y="0"/>
                </a:moveTo>
                <a:lnTo>
                  <a:pt x="16000183" y="0"/>
                </a:lnTo>
                <a:lnTo>
                  <a:pt x="16000183" y="5940067"/>
                </a:lnTo>
                <a:lnTo>
                  <a:pt x="0" y="594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84637" y="520361"/>
            <a:ext cx="10518725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86BC2"/>
                </a:solidFill>
                <a:latin typeface="Arimo Bold"/>
                <a:ea typeface="Arimo Bold"/>
                <a:cs typeface="Arimo Bold"/>
                <a:sym typeface="Arimo Bold"/>
              </a:rPr>
              <a:t>Final Performance 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193" y="788839"/>
            <a:ext cx="18451193" cy="9179468"/>
          </a:xfrm>
          <a:custGeom>
            <a:avLst/>
            <a:gdLst/>
            <a:ahLst/>
            <a:cxnLst/>
            <a:rect r="r" b="b" t="t" l="l"/>
            <a:pathLst>
              <a:path h="9179468" w="18451193">
                <a:moveTo>
                  <a:pt x="0" y="0"/>
                </a:moveTo>
                <a:lnTo>
                  <a:pt x="18451193" y="0"/>
                </a:lnTo>
                <a:lnTo>
                  <a:pt x="18451193" y="9179468"/>
                </a:lnTo>
                <a:lnTo>
                  <a:pt x="0" y="9179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20585" y="3039074"/>
            <a:ext cx="1953286" cy="1953286"/>
          </a:xfrm>
          <a:custGeom>
            <a:avLst/>
            <a:gdLst/>
            <a:ahLst/>
            <a:cxnLst/>
            <a:rect r="r" b="b" t="t" l="l"/>
            <a:pathLst>
              <a:path h="1953286" w="1953286">
                <a:moveTo>
                  <a:pt x="0" y="0"/>
                </a:moveTo>
                <a:lnTo>
                  <a:pt x="1953286" y="0"/>
                </a:lnTo>
                <a:lnTo>
                  <a:pt x="1953286" y="1953286"/>
                </a:lnTo>
                <a:lnTo>
                  <a:pt x="0" y="195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-3516505"/>
            <a:ext cx="11487912" cy="11777322"/>
            <a:chOff x="0" y="0"/>
            <a:chExt cx="812800" cy="8332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33276"/>
            </a:xfrm>
            <a:custGeom>
              <a:avLst/>
              <a:gdLst/>
              <a:ahLst/>
              <a:cxnLst/>
              <a:rect r="r" b="b" t="t" l="l"/>
              <a:pathLst>
                <a:path h="833276" w="812800">
                  <a:moveTo>
                    <a:pt x="406400" y="0"/>
                  </a:moveTo>
                  <a:cubicBezTo>
                    <a:pt x="181951" y="0"/>
                    <a:pt x="0" y="186535"/>
                    <a:pt x="0" y="416638"/>
                  </a:cubicBezTo>
                  <a:cubicBezTo>
                    <a:pt x="0" y="646741"/>
                    <a:pt x="181951" y="833276"/>
                    <a:pt x="406400" y="833276"/>
                  </a:cubicBezTo>
                  <a:cubicBezTo>
                    <a:pt x="630849" y="833276"/>
                    <a:pt x="812800" y="646741"/>
                    <a:pt x="812800" y="416638"/>
                  </a:cubicBezTo>
                  <a:cubicBezTo>
                    <a:pt x="812800" y="18653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0020"/>
              <a:ext cx="660400" cy="715137"/>
            </a:xfrm>
            <a:prstGeom prst="rect">
              <a:avLst/>
            </a:prstGeom>
          </p:spPr>
          <p:txBody>
            <a:bodyPr anchor="ctr" rtlCol="false" tIns="358962" lIns="358962" bIns="358962" rIns="35896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03227" y="1853008"/>
            <a:ext cx="7252893" cy="725289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510456" y="8731479"/>
            <a:ext cx="748844" cy="748844"/>
          </a:xfrm>
          <a:custGeom>
            <a:avLst/>
            <a:gdLst/>
            <a:ahLst/>
            <a:cxnLst/>
            <a:rect r="r" b="b" t="t" l="l"/>
            <a:pathLst>
              <a:path h="748844" w="748844">
                <a:moveTo>
                  <a:pt x="0" y="0"/>
                </a:moveTo>
                <a:lnTo>
                  <a:pt x="748844" y="0"/>
                </a:lnTo>
                <a:lnTo>
                  <a:pt x="748844" y="748843"/>
                </a:lnTo>
                <a:lnTo>
                  <a:pt x="0" y="748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9718" y="656364"/>
            <a:ext cx="685750" cy="685750"/>
          </a:xfrm>
          <a:custGeom>
            <a:avLst/>
            <a:gdLst/>
            <a:ahLst/>
            <a:cxnLst/>
            <a:rect r="r" b="b" t="t" l="l"/>
            <a:pathLst>
              <a:path h="685750" w="685750">
                <a:moveTo>
                  <a:pt x="0" y="0"/>
                </a:moveTo>
                <a:lnTo>
                  <a:pt x="685750" y="0"/>
                </a:lnTo>
                <a:lnTo>
                  <a:pt x="685750" y="685750"/>
                </a:lnTo>
                <a:lnTo>
                  <a:pt x="0" y="6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33675" y="7048796"/>
            <a:ext cx="2563891" cy="1212021"/>
          </a:xfrm>
          <a:custGeom>
            <a:avLst/>
            <a:gdLst/>
            <a:ahLst/>
            <a:cxnLst/>
            <a:rect r="r" b="b" t="t" l="l"/>
            <a:pathLst>
              <a:path h="1212021" w="2563891">
                <a:moveTo>
                  <a:pt x="0" y="0"/>
                </a:moveTo>
                <a:lnTo>
                  <a:pt x="2563891" y="0"/>
                </a:lnTo>
                <a:lnTo>
                  <a:pt x="2563891" y="1212021"/>
                </a:lnTo>
                <a:lnTo>
                  <a:pt x="0" y="12120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5148" y="3929992"/>
            <a:ext cx="9748723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Teşekkür ederim.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15714" y="7284284"/>
            <a:ext cx="2471527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Delfin Aksu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DAHIs904Gzc</dc:identifier>
  <dcterms:modified xsi:type="dcterms:W3CDTF">2011-08-01T06:04:30Z</dcterms:modified>
  <cp:revision>1</cp:revision>
  <dc:title>White Blue Modern Medical HealthCare Presentation</dc:title>
</cp:coreProperties>
</file>